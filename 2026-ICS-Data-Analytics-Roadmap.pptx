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8"/>
  </p:notesMasterIdLst>
  <p:sldIdLst>
    <p:sldId id="256" r:id="rId5"/>
    <p:sldId id="2579" r:id="rId6"/>
    <p:sldId id="261" r:id="rId7"/>
    <p:sldId id="260" r:id="rId8"/>
    <p:sldId id="262" r:id="rId9"/>
    <p:sldId id="2580" r:id="rId10"/>
    <p:sldId id="2581" r:id="rId11"/>
    <p:sldId id="2582" r:id="rId12"/>
    <p:sldId id="2587" r:id="rId13"/>
    <p:sldId id="2584" r:id="rId14"/>
    <p:sldId id="2586" r:id="rId15"/>
    <p:sldId id="2589" r:id="rId16"/>
    <p:sldId id="2590" r:id="rId17"/>
  </p:sldIdLst>
  <p:sldSz cx="14630400" cy="8229600"/>
  <p:notesSz cx="8229600" cy="14630400"/>
  <p:embeddedFontLst>
    <p:embeddedFont>
      <p:font typeface="Arial Black" panose="020B0A04020102020204" pitchFamily="34" charset="0"/>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4C94EA4-E08C-8A94-0848-DEDE24C2A86A}" name="Aithal, Ananya" initials="AA" userId="S::2019778@zone1.scb.net::dd5385c3-1acd-4ff4-8ef5-66c27a38ae9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6A2C9D-C42B-9102-BA90-556380AFA200}" v="423" dt="2026-05-15T05:31:49.638"/>
    <p1510:client id="{3EC45AEC-ED1B-428D-A85A-38F9B14C4E10}" v="3" dt="2026-05-15T05:49:52.350"/>
    <p1510:client id="{5609FF76-B60F-88B5-955B-5A82C4EE0888}" v="55" dt="2026-05-15T05:37:19.263"/>
    <p1510:client id="{A1E812F8-2D2D-44BD-ABF8-86066CCEF6BA}" v="26" dt="2026-05-14T11:14:33.696"/>
    <p1510:client id="{BF10635E-A3B4-C306-7A52-207E873C794A}" v="89" dt="2026-05-15T04:30:44.2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42" d="100"/>
          <a:sy n="42" d="100"/>
        </p:scale>
        <p:origin x="1260"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thal, Ananya" userId="dd5385c3-1acd-4ff4-8ef5-66c27a38ae99" providerId="ADAL" clId="{58207EDA-3479-4F2F-94AD-D09CB94E4FF3}"/>
    <pc:docChg chg="undo custSel delSld modSld">
      <pc:chgData name="Aithal, Ananya" userId="dd5385c3-1acd-4ff4-8ef5-66c27a38ae99" providerId="ADAL" clId="{58207EDA-3479-4F2F-94AD-D09CB94E4FF3}" dt="2026-05-15T05:51:02.645" v="77" actId="20577"/>
      <pc:docMkLst>
        <pc:docMk/>
      </pc:docMkLst>
      <pc:sldChg chg="modSp mod">
        <pc:chgData name="Aithal, Ananya" userId="dd5385c3-1acd-4ff4-8ef5-66c27a38ae99" providerId="ADAL" clId="{58207EDA-3479-4F2F-94AD-D09CB94E4FF3}" dt="2026-05-15T05:50:53.344" v="64" actId="20577"/>
        <pc:sldMkLst>
          <pc:docMk/>
          <pc:sldMk cId="0" sldId="260"/>
        </pc:sldMkLst>
        <pc:spChg chg="mod">
          <ac:chgData name="Aithal, Ananya" userId="dd5385c3-1acd-4ff4-8ef5-66c27a38ae99" providerId="ADAL" clId="{58207EDA-3479-4F2F-94AD-D09CB94E4FF3}" dt="2026-05-15T05:50:53.344" v="64" actId="20577"/>
          <ac:spMkLst>
            <pc:docMk/>
            <pc:sldMk cId="0" sldId="260"/>
            <ac:spMk id="3" creationId="{00000000-0000-0000-0000-000000000000}"/>
          </ac:spMkLst>
        </pc:spChg>
      </pc:sldChg>
      <pc:sldChg chg="modSp mod">
        <pc:chgData name="Aithal, Ananya" userId="dd5385c3-1acd-4ff4-8ef5-66c27a38ae99" providerId="ADAL" clId="{58207EDA-3479-4F2F-94AD-D09CB94E4FF3}" dt="2026-05-15T05:50:45.406" v="51" actId="20577"/>
        <pc:sldMkLst>
          <pc:docMk/>
          <pc:sldMk cId="0" sldId="261"/>
        </pc:sldMkLst>
        <pc:spChg chg="mod">
          <ac:chgData name="Aithal, Ananya" userId="dd5385c3-1acd-4ff4-8ef5-66c27a38ae99" providerId="ADAL" clId="{58207EDA-3479-4F2F-94AD-D09CB94E4FF3}" dt="2026-05-15T05:50:45.406" v="51" actId="20577"/>
          <ac:spMkLst>
            <pc:docMk/>
            <pc:sldMk cId="0" sldId="261"/>
            <ac:spMk id="3" creationId="{00000000-0000-0000-0000-000000000000}"/>
          </ac:spMkLst>
        </pc:spChg>
      </pc:sldChg>
      <pc:sldChg chg="modSp mod">
        <pc:chgData name="Aithal, Ananya" userId="dd5385c3-1acd-4ff4-8ef5-66c27a38ae99" providerId="ADAL" clId="{58207EDA-3479-4F2F-94AD-D09CB94E4FF3}" dt="2026-05-15T05:51:02.645" v="77" actId="20577"/>
        <pc:sldMkLst>
          <pc:docMk/>
          <pc:sldMk cId="0" sldId="262"/>
        </pc:sldMkLst>
        <pc:spChg chg="mod">
          <ac:chgData name="Aithal, Ananya" userId="dd5385c3-1acd-4ff4-8ef5-66c27a38ae99" providerId="ADAL" clId="{58207EDA-3479-4F2F-94AD-D09CB94E4FF3}" dt="2026-05-15T05:51:02.645" v="77" actId="20577"/>
          <ac:spMkLst>
            <pc:docMk/>
            <pc:sldMk cId="0" sldId="262"/>
            <ac:spMk id="4" creationId="{00000000-0000-0000-0000-000000000000}"/>
          </ac:spMkLst>
        </pc:spChg>
      </pc:sldChg>
      <pc:sldChg chg="del">
        <pc:chgData name="Aithal, Ananya" userId="dd5385c3-1acd-4ff4-8ef5-66c27a38ae99" providerId="ADAL" clId="{58207EDA-3479-4F2F-94AD-D09CB94E4FF3}" dt="2026-05-15T05:48:30.841" v="0" actId="47"/>
        <pc:sldMkLst>
          <pc:docMk/>
          <pc:sldMk cId="3974488448" sldId="2572"/>
        </pc:sldMkLst>
      </pc:sldChg>
      <pc:sldChg chg="del">
        <pc:chgData name="Aithal, Ananya" userId="dd5385c3-1acd-4ff4-8ef5-66c27a38ae99" providerId="ADAL" clId="{58207EDA-3479-4F2F-94AD-D09CB94E4FF3}" dt="2026-05-15T05:48:30.841" v="0" actId="47"/>
        <pc:sldMkLst>
          <pc:docMk/>
          <pc:sldMk cId="1364763174" sldId="2575"/>
        </pc:sldMkLst>
      </pc:sldChg>
      <pc:sldChg chg="del">
        <pc:chgData name="Aithal, Ananya" userId="dd5385c3-1acd-4ff4-8ef5-66c27a38ae99" providerId="ADAL" clId="{58207EDA-3479-4F2F-94AD-D09CB94E4FF3}" dt="2026-05-15T05:48:30.841" v="0" actId="47"/>
        <pc:sldMkLst>
          <pc:docMk/>
          <pc:sldMk cId="789123828" sldId="2576"/>
        </pc:sldMkLst>
      </pc:sldChg>
      <pc:sldChg chg="del">
        <pc:chgData name="Aithal, Ananya" userId="dd5385c3-1acd-4ff4-8ef5-66c27a38ae99" providerId="ADAL" clId="{58207EDA-3479-4F2F-94AD-D09CB94E4FF3}" dt="2026-05-15T05:48:30.841" v="0" actId="47"/>
        <pc:sldMkLst>
          <pc:docMk/>
          <pc:sldMk cId="1812073785" sldId="2577"/>
        </pc:sldMkLst>
      </pc:sldChg>
      <pc:sldChg chg="del">
        <pc:chgData name="Aithal, Ananya" userId="dd5385c3-1acd-4ff4-8ef5-66c27a38ae99" providerId="ADAL" clId="{58207EDA-3479-4F2F-94AD-D09CB94E4FF3}" dt="2026-05-15T05:48:30.841" v="0" actId="47"/>
        <pc:sldMkLst>
          <pc:docMk/>
          <pc:sldMk cId="3292896764" sldId="2578"/>
        </pc:sldMkLst>
      </pc:sldChg>
      <pc:sldChg chg="modSp mod">
        <pc:chgData name="Aithal, Ananya" userId="dd5385c3-1acd-4ff4-8ef5-66c27a38ae99" providerId="ADAL" clId="{58207EDA-3479-4F2F-94AD-D09CB94E4FF3}" dt="2026-05-15T05:49:29.577" v="7" actId="313"/>
        <pc:sldMkLst>
          <pc:docMk/>
          <pc:sldMk cId="3571821985" sldId="2582"/>
        </pc:sldMkLst>
        <pc:graphicFrameChg chg="modGraphic">
          <ac:chgData name="Aithal, Ananya" userId="dd5385c3-1acd-4ff4-8ef5-66c27a38ae99" providerId="ADAL" clId="{58207EDA-3479-4F2F-94AD-D09CB94E4FF3}" dt="2026-05-15T05:49:29.577" v="7" actId="313"/>
          <ac:graphicFrameMkLst>
            <pc:docMk/>
            <pc:sldMk cId="3571821985" sldId="2582"/>
            <ac:graphicFrameMk id="5" creationId="{313B2554-484A-E9BA-A944-F41F462B6766}"/>
          </ac:graphicFrameMkLst>
        </pc:graphicFrameChg>
      </pc:sldChg>
      <pc:sldChg chg="del">
        <pc:chgData name="Aithal, Ananya" userId="dd5385c3-1acd-4ff4-8ef5-66c27a38ae99" providerId="ADAL" clId="{58207EDA-3479-4F2F-94AD-D09CB94E4FF3}" dt="2026-05-15T05:48:57.713" v="2" actId="47"/>
        <pc:sldMkLst>
          <pc:docMk/>
          <pc:sldMk cId="2986560196" sldId="2583"/>
        </pc:sldMkLst>
      </pc:sldChg>
      <pc:sldChg chg="del">
        <pc:chgData name="Aithal, Ananya" userId="dd5385c3-1acd-4ff4-8ef5-66c27a38ae99" providerId="ADAL" clId="{58207EDA-3479-4F2F-94AD-D09CB94E4FF3}" dt="2026-05-15T05:48:35.439" v="1" actId="47"/>
        <pc:sldMkLst>
          <pc:docMk/>
          <pc:sldMk cId="3527775682" sldId="2588"/>
        </pc:sldMkLst>
      </pc:sldChg>
      <pc:sldChg chg="modSp mod">
        <pc:chgData name="Aithal, Ananya" userId="dd5385c3-1acd-4ff4-8ef5-66c27a38ae99" providerId="ADAL" clId="{58207EDA-3479-4F2F-94AD-D09CB94E4FF3}" dt="2026-05-15T05:50:17.404" v="36" actId="1076"/>
        <pc:sldMkLst>
          <pc:docMk/>
          <pc:sldMk cId="2810370444" sldId="2589"/>
        </pc:sldMkLst>
        <pc:graphicFrameChg chg="mod">
          <ac:chgData name="Aithal, Ananya" userId="dd5385c3-1acd-4ff4-8ef5-66c27a38ae99" providerId="ADAL" clId="{58207EDA-3479-4F2F-94AD-D09CB94E4FF3}" dt="2026-05-15T05:50:17.404" v="36" actId="1076"/>
          <ac:graphicFrameMkLst>
            <pc:docMk/>
            <pc:sldMk cId="2810370444" sldId="2589"/>
            <ac:graphicFrameMk id="7" creationId="{E91A62EE-3A72-D8E4-A853-58EC680A4FD2}"/>
          </ac:graphicFrameMkLst>
        </pc:graphicFrameChg>
      </pc:sldChg>
      <pc:sldChg chg="modSp mod">
        <pc:chgData name="Aithal, Ananya" userId="dd5385c3-1acd-4ff4-8ef5-66c27a38ae99" providerId="ADAL" clId="{58207EDA-3479-4F2F-94AD-D09CB94E4FF3}" dt="2026-05-15T05:50:09.247" v="35" actId="20577"/>
        <pc:sldMkLst>
          <pc:docMk/>
          <pc:sldMk cId="1475602073" sldId="2590"/>
        </pc:sldMkLst>
        <pc:graphicFrameChg chg="mod modGraphic">
          <ac:chgData name="Aithal, Ananya" userId="dd5385c3-1acd-4ff4-8ef5-66c27a38ae99" providerId="ADAL" clId="{58207EDA-3479-4F2F-94AD-D09CB94E4FF3}" dt="2026-05-15T05:50:09.247" v="35" actId="20577"/>
          <ac:graphicFrameMkLst>
            <pc:docMk/>
            <pc:sldMk cId="1475602073" sldId="2590"/>
            <ac:graphicFrameMk id="6" creationId="{0F23B16F-4147-6479-75B6-60E1ADA3BE85}"/>
          </ac:graphicFrameMkLst>
        </pc:graphicFrameChg>
      </pc:sldChg>
      <pc:sldChg chg="del">
        <pc:chgData name="Aithal, Ananya" userId="dd5385c3-1acd-4ff4-8ef5-66c27a38ae99" providerId="ADAL" clId="{58207EDA-3479-4F2F-94AD-D09CB94E4FF3}" dt="2026-05-15T05:49:03.375" v="3" actId="47"/>
        <pc:sldMkLst>
          <pc:docMk/>
          <pc:sldMk cId="1885606031" sldId="25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358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83A46-9629-EDDC-F4EA-2C466A4AE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7EC62-C8F6-E36B-C1A6-FB5EBBFAF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08A4AF-AFD6-3DE0-3E0B-6203CB6D4A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8E556C-A45E-2215-2200-A230198468D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20291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67EA1-DF07-E12F-2C04-90EB9F810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4DDA7-0551-0423-3D26-92580B004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9D13E-A5E1-A4E5-6263-375BEDEEE2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B49C85-AB8D-CB42-E6E0-823238B7EDF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15539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txBody>
          <a:bodyPr/>
          <a:lstStyle/>
          <a:p>
            <a:endParaRPr lang="en-GB"/>
          </a:p>
        </p:txBody>
      </p:sp>
      <p:sp>
        <p:nvSpPr>
          <p:cNvPr id="3" name="Shape 1"/>
          <p:cNvSpPr/>
          <p:nvPr/>
        </p:nvSpPr>
        <p:spPr>
          <a:xfrm>
            <a:off x="0" y="0"/>
            <a:ext cx="14630400" cy="8229600"/>
          </a:xfrm>
          <a:prstGeom prst="rect">
            <a:avLst/>
          </a:prstGeom>
          <a:solidFill>
            <a:srgbClr val="F9F8F5"/>
          </a:solid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1CCE12-4829-B117-3A37-CD958D20FD2C}"/>
              </a:ext>
            </a:extLst>
          </p:cNvPr>
          <p:cNvSpPr txBox="1"/>
          <p:nvPr>
            <p:extLst>
              <p:ext uri="{1162E1C5-73C7-4A58-AE30-91384D911F3F}">
                <p184:classification xmlns:p184="http://schemas.microsoft.com/office/powerpoint/2018/4/main" val="hdr"/>
              </p:ext>
            </p:extLst>
          </p:nvPr>
        </p:nvSpPr>
        <p:spPr>
          <a:xfrm>
            <a:off x="63500" y="63500"/>
            <a:ext cx="444500" cy="137160"/>
          </a:xfrm>
          <a:prstGeom prst="rect">
            <a:avLst/>
          </a:prstGeom>
        </p:spPr>
        <p:txBody>
          <a:bodyPr horzOverflow="overflow" lIns="0" tIns="0" rIns="0" bIns="0">
            <a:spAutoFit/>
          </a:bodyPr>
          <a:lstStyle/>
          <a:p>
            <a:pPr algn="l"/>
            <a:r>
              <a:rPr lang="en-GB" sz="900">
                <a:solidFill>
                  <a:srgbClr val="317100">
                    <a:alpha val="50000"/>
                  </a:srgbClr>
                </a:solidFill>
                <a:latin typeface="Arial" panose="020B0604020202020204" pitchFamily="34" charset="0"/>
                <a:cs typeface="Arial" panose="020B0604020202020204" pitchFamily="34" charset="0"/>
              </a:rPr>
              <a:t>PUBLIC</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030A0"/>
        </a:solidFill>
        <a:effectLst/>
      </p:bgPr>
    </p:bg>
    <p:spTree>
      <p:nvGrpSpPr>
        <p:cNvPr id="1" name=""/>
        <p:cNvGrpSpPr/>
        <p:nvPr/>
      </p:nvGrpSpPr>
      <p:grpSpPr>
        <a:xfrm>
          <a:off x="0" y="0"/>
          <a:ext cx="0" cy="0"/>
          <a:chOff x="0" y="0"/>
          <a:chExt cx="0" cy="0"/>
        </a:xfrm>
      </p:grpSpPr>
      <p:pic>
        <p:nvPicPr>
          <p:cNvPr id="4" name="Picture 3" descr="fourth industrial revolution technology concept">
            <a:extLst>
              <a:ext uri="{FF2B5EF4-FFF2-40B4-BE49-F238E27FC236}">
                <a16:creationId xmlns:a16="http://schemas.microsoft.com/office/drawing/2014/main" id="{82B8A5C8-E3BB-C8D2-585E-F23109CE24C1}"/>
              </a:ext>
            </a:extLst>
          </p:cNvPr>
          <p:cNvPicPr>
            <a:picLocks noChangeAspect="1"/>
          </p:cNvPicPr>
          <p:nvPr/>
        </p:nvPicPr>
        <p:blipFill>
          <a:blip r:embed="rId3"/>
          <a:stretch>
            <a:fillRect/>
          </a:stretch>
        </p:blipFill>
        <p:spPr>
          <a:xfrm>
            <a:off x="7145" y="2"/>
            <a:ext cx="14616111" cy="8222453"/>
          </a:xfrm>
          <a:prstGeom prst="rect">
            <a:avLst/>
          </a:prstGeom>
        </p:spPr>
      </p:pic>
      <p:sp>
        <p:nvSpPr>
          <p:cNvPr id="7" name="TextBox 6">
            <a:extLst>
              <a:ext uri="{FF2B5EF4-FFF2-40B4-BE49-F238E27FC236}">
                <a16:creationId xmlns:a16="http://schemas.microsoft.com/office/drawing/2014/main" id="{35DBB992-4EAF-7B72-6450-F26881B2727D}"/>
              </a:ext>
            </a:extLst>
          </p:cNvPr>
          <p:cNvSpPr txBox="1"/>
          <p:nvPr/>
        </p:nvSpPr>
        <p:spPr>
          <a:xfrm>
            <a:off x="9327145" y="1822545"/>
            <a:ext cx="4543425"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latin typeface="Arial Black"/>
              </a:rPr>
              <a:t>2026 ICS Data Analytics &amp; </a:t>
            </a:r>
            <a:r>
              <a:rPr lang="en-US" sz="3200">
                <a:latin typeface="Arial Black"/>
              </a:rPr>
              <a:t>Automation R</a:t>
            </a:r>
            <a:r>
              <a:rPr lang="en-US" sz="3200" dirty="0">
                <a:latin typeface="Arial Black"/>
              </a:rPr>
              <a:t>oadmap</a:t>
            </a:r>
            <a:endParaRPr lang="en-US">
              <a:latin typeface="Arial Black"/>
            </a:endParaRPr>
          </a:p>
        </p:txBody>
      </p:sp>
      <p:sp>
        <p:nvSpPr>
          <p:cNvPr id="8" name="TextBox 7">
            <a:extLst>
              <a:ext uri="{FF2B5EF4-FFF2-40B4-BE49-F238E27FC236}">
                <a16:creationId xmlns:a16="http://schemas.microsoft.com/office/drawing/2014/main" id="{BD2210E0-60E7-9225-7E18-E0C48DA0988F}"/>
              </a:ext>
            </a:extLst>
          </p:cNvPr>
          <p:cNvSpPr txBox="1"/>
          <p:nvPr/>
        </p:nvSpPr>
        <p:spPr>
          <a:xfrm>
            <a:off x="9327187" y="4112727"/>
            <a:ext cx="44862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Black"/>
                <a:ea typeface="Calibri"/>
                <a:cs typeface="Calibri"/>
              </a:rPr>
              <a:t>Raghvendra Pratap Singh</a:t>
            </a:r>
            <a:endParaRPr lang="en-US">
              <a:latin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06C5254-9D50-1E2B-E440-50A7F6FC9993}"/>
              </a:ext>
            </a:extLst>
          </p:cNvPr>
          <p:cNvSpPr/>
          <p:nvPr/>
        </p:nvSpPr>
        <p:spPr>
          <a:xfrm>
            <a:off x="1955578" y="3793838"/>
            <a:ext cx="10719942" cy="643152"/>
          </a:xfrm>
          <a:prstGeom prst="rect">
            <a:avLst/>
          </a:prstGeom>
          <a:noFill/>
          <a:ln/>
        </p:spPr>
        <p:txBody>
          <a:bodyPr wrap="none" lIns="0" tIns="0" rIns="0" bIns="0" rtlCol="0" anchor="t"/>
          <a:lstStyle/>
          <a:p>
            <a:r>
              <a:rPr lang="en-US" sz="4000">
                <a:solidFill>
                  <a:srgbClr val="161613"/>
                </a:solidFill>
                <a:latin typeface="Arial Black"/>
                <a:ea typeface="DM Sans Medium" pitchFamily="34" charset="-122"/>
                <a:cs typeface="Arial"/>
              </a:rPr>
              <a:t>2026 ICS Audit-Related DA Use Cases</a:t>
            </a:r>
            <a:endParaRPr lang="en-US" sz="4000">
              <a:solidFill>
                <a:srgbClr val="000000"/>
              </a:solidFill>
              <a:latin typeface="Arial Black"/>
              <a:ea typeface="DM Sans Medium" pitchFamily="34" charset="-122"/>
              <a:cs typeface="Arial"/>
            </a:endParaRPr>
          </a:p>
          <a:p>
            <a:pPr marL="0" indent="0" algn="l">
              <a:lnSpc>
                <a:spcPts val="4850"/>
              </a:lnSpc>
              <a:buNone/>
            </a:pPr>
            <a:endParaRPr lang="en-US" sz="4000" dirty="0">
              <a:solidFill>
                <a:srgbClr val="161613"/>
              </a:solidFill>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418728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11518"/>
            <a:ext cx="13395935" cy="589121"/>
          </a:xfrm>
          <a:prstGeom prst="rect">
            <a:avLst/>
          </a:prstGeom>
          <a:noFill/>
          <a:ln/>
        </p:spPr>
        <p:txBody>
          <a:bodyPr wrap="none" lIns="0" tIns="0" rIns="0" bIns="0" rtlCol="0" anchor="t"/>
          <a:lstStyle/>
          <a:p>
            <a:pPr marL="0" indent="0" algn="l">
              <a:lnSpc>
                <a:spcPts val="4600"/>
              </a:lnSpc>
              <a:buNone/>
            </a:pPr>
            <a:r>
              <a:rPr lang="en-US" sz="4000">
                <a:solidFill>
                  <a:srgbClr val="161613"/>
                </a:solidFill>
                <a:latin typeface="Arial Black"/>
                <a:ea typeface="DM Sans Medium" pitchFamily="34" charset="-122"/>
                <a:cs typeface="Arial"/>
              </a:rPr>
              <a:t>Centralized</a:t>
            </a:r>
            <a:r>
              <a:rPr lang="en-US" sz="4000" dirty="0">
                <a:solidFill>
                  <a:srgbClr val="161613"/>
                </a:solidFill>
                <a:latin typeface="Arial Black"/>
                <a:ea typeface="DM Sans Medium" pitchFamily="34" charset="-122"/>
                <a:cs typeface="Arial"/>
              </a:rPr>
              <a:t> Authentication Services (CAS)</a:t>
            </a:r>
            <a:endParaRPr lang="en-US" sz="4000" dirty="0">
              <a:latin typeface="Arial Black"/>
              <a:cs typeface="Arial"/>
            </a:endParaRPr>
          </a:p>
        </p:txBody>
      </p:sp>
      <p:sp>
        <p:nvSpPr>
          <p:cNvPr id="3" name="Shape 1"/>
          <p:cNvSpPr/>
          <p:nvPr/>
        </p:nvSpPr>
        <p:spPr>
          <a:xfrm>
            <a:off x="793790" y="1666399"/>
            <a:ext cx="3139232" cy="374904"/>
          </a:xfrm>
          <a:prstGeom prst="roundRect">
            <a:avLst>
              <a:gd name="adj" fmla="val 6495"/>
            </a:avLst>
          </a:prstGeom>
          <a:ln/>
        </p:spPr>
        <p:style>
          <a:lnRef idx="2">
            <a:schemeClr val="dk1"/>
          </a:lnRef>
          <a:fillRef idx="1">
            <a:schemeClr val="lt1"/>
          </a:fillRef>
          <a:effectRef idx="0">
            <a:schemeClr val="dk1"/>
          </a:effectRef>
          <a:fontRef idx="minor">
            <a:schemeClr val="dk1"/>
          </a:fontRef>
        </p:style>
        <p:txBody>
          <a:bodyPr anchor="ctr"/>
          <a:lstStyle/>
          <a:p>
            <a:pPr algn="ctr"/>
            <a:r>
              <a:rPr lang="en-US" sz="1600" dirty="0">
                <a:solidFill>
                  <a:srgbClr val="161613"/>
                </a:solidFill>
                <a:latin typeface="Arial" panose="020B0604020202020204" pitchFamily="34" charset="0"/>
                <a:ea typeface="Inter" pitchFamily="34" charset="-122"/>
                <a:cs typeface="Arial" panose="020B0604020202020204" pitchFamily="34" charset="0"/>
              </a:rPr>
              <a:t>AUDIT: 2026-GT-1111</a:t>
            </a:r>
            <a:endParaRPr lang="en-US" sz="1600" dirty="0">
              <a:latin typeface="Arial" panose="020B0604020202020204" pitchFamily="34" charset="0"/>
              <a:cs typeface="Arial" panose="020B0604020202020204" pitchFamily="34" charset="0"/>
            </a:endParaRPr>
          </a:p>
        </p:txBody>
      </p:sp>
      <p:sp>
        <p:nvSpPr>
          <p:cNvPr id="5" name="Shape 3"/>
          <p:cNvSpPr/>
          <p:nvPr/>
        </p:nvSpPr>
        <p:spPr>
          <a:xfrm>
            <a:off x="4031301" y="1669251"/>
            <a:ext cx="2528290" cy="374904"/>
          </a:xfrm>
          <a:prstGeom prst="roundRect">
            <a:avLst>
              <a:gd name="adj" fmla="val 6223"/>
            </a:avLst>
          </a:prstGeom>
          <a:noFill/>
          <a:ln w="7620">
            <a:solidFill>
              <a:srgbClr val="28282F"/>
            </a:solidFill>
            <a:prstDash val="solid"/>
          </a:ln>
        </p:spPr>
        <p:txBody>
          <a:bodyPr anchor="ctr"/>
          <a:lstStyle/>
          <a:p>
            <a:pPr algn="ctr"/>
            <a:r>
              <a:rPr lang="en-US" sz="1600">
                <a:solidFill>
                  <a:srgbClr val="28282F"/>
                </a:solidFill>
                <a:latin typeface="Arial" panose="020B0604020202020204" pitchFamily="34" charset="0"/>
                <a:ea typeface="Inter" pitchFamily="34" charset="-122"/>
                <a:cs typeface="Arial" panose="020B0604020202020204" pitchFamily="34" charset="0"/>
              </a:rPr>
              <a:t>FEB 16 – MAY 27, 2026</a:t>
            </a:r>
            <a:endParaRPr lang="en-US" sz="1600">
              <a:latin typeface="Arial" panose="020B0604020202020204" pitchFamily="34" charset="0"/>
              <a:cs typeface="Arial" panose="020B0604020202020204" pitchFamily="34" charset="0"/>
            </a:endParaRPr>
          </a:p>
        </p:txBody>
      </p:sp>
      <p:sp>
        <p:nvSpPr>
          <p:cNvPr id="7" name="Shape 5"/>
          <p:cNvSpPr/>
          <p:nvPr/>
        </p:nvSpPr>
        <p:spPr>
          <a:xfrm>
            <a:off x="6657870" y="1678543"/>
            <a:ext cx="1983099" cy="374904"/>
          </a:xfrm>
          <a:prstGeom prst="roundRect">
            <a:avLst>
              <a:gd name="adj" fmla="val 6223"/>
            </a:avLst>
          </a:prstGeom>
          <a:noFill/>
          <a:ln w="7620">
            <a:solidFill>
              <a:srgbClr val="28282F"/>
            </a:solidFill>
            <a:prstDash val="solid"/>
          </a:ln>
        </p:spPr>
        <p:txBody>
          <a:bodyPr anchor="ctr"/>
          <a:lstStyle/>
          <a:p>
            <a:pPr algn="ctr"/>
            <a:r>
              <a:rPr lang="en-US" sz="1600">
                <a:solidFill>
                  <a:srgbClr val="28282F"/>
                </a:solidFill>
                <a:latin typeface="Arial" panose="020B0604020202020204" pitchFamily="34" charset="0"/>
                <a:ea typeface="Inter" pitchFamily="34" charset="-122"/>
                <a:cs typeface="Arial" panose="020B0604020202020204" pitchFamily="34" charset="0"/>
              </a:rPr>
              <a:t>10 MAN-DAYS</a:t>
            </a:r>
            <a:endParaRPr lang="en-GB" sz="1600">
              <a:solidFill>
                <a:srgbClr val="28282F"/>
              </a:solidFill>
              <a:latin typeface="Arial" panose="020B0604020202020204" pitchFamily="34" charset="0"/>
              <a:ea typeface="Inter" pitchFamily="34" charset="-122"/>
              <a:cs typeface="Arial" panose="020B0604020202020204" pitchFamily="34" charset="0"/>
            </a:endParaRPr>
          </a:p>
        </p:txBody>
      </p:sp>
      <p:sp>
        <p:nvSpPr>
          <p:cNvPr id="8" name="Text 6"/>
          <p:cNvSpPr/>
          <p:nvPr/>
        </p:nvSpPr>
        <p:spPr>
          <a:xfrm>
            <a:off x="6387346" y="1666399"/>
            <a:ext cx="1017389" cy="235268"/>
          </a:xfrm>
          <a:prstGeom prst="rect">
            <a:avLst/>
          </a:prstGeom>
          <a:noFill/>
          <a:ln/>
        </p:spPr>
        <p:txBody>
          <a:bodyPr wrap="none" lIns="0" tIns="0" rIns="0" bIns="0" rtlCol="0" anchor="t"/>
          <a:lstStyle/>
          <a:p>
            <a:pPr marL="0" indent="0" algn="l">
              <a:lnSpc>
                <a:spcPts val="1850"/>
              </a:lnSpc>
              <a:buNone/>
            </a:pPr>
            <a:endParaRPr lang="en-US" sz="1600">
              <a:latin typeface="Arial" panose="020B0604020202020204" pitchFamily="34" charset="0"/>
              <a:cs typeface="Arial" panose="020B0604020202020204" pitchFamily="34" charset="0"/>
            </a:endParaRPr>
          </a:p>
        </p:txBody>
      </p:sp>
      <p:sp>
        <p:nvSpPr>
          <p:cNvPr id="9" name="Shape 7"/>
          <p:cNvSpPr/>
          <p:nvPr/>
        </p:nvSpPr>
        <p:spPr>
          <a:xfrm>
            <a:off x="793790" y="2223849"/>
            <a:ext cx="6431875" cy="1724263"/>
          </a:xfrm>
          <a:prstGeom prst="roundRect">
            <a:avLst>
              <a:gd name="adj" fmla="val 1640"/>
            </a:avLst>
          </a:prstGeom>
          <a:solidFill>
            <a:srgbClr val="EDEBE3"/>
          </a:solidFill>
          <a:ln>
            <a:solidFill>
              <a:schemeClr val="tx1"/>
            </a:solidFill>
          </a:ln>
        </p:spPr>
        <p:txBody>
          <a:bodyPr/>
          <a:lstStyle/>
          <a:p>
            <a:endParaRPr lang="en-GB" sz="1600">
              <a:latin typeface="Arial" panose="020B0604020202020204" pitchFamily="34" charset="0"/>
              <a:cs typeface="Arial" panose="020B0604020202020204" pitchFamily="34" charset="0"/>
            </a:endParaRPr>
          </a:p>
        </p:txBody>
      </p:sp>
      <p:sp>
        <p:nvSpPr>
          <p:cNvPr id="10" name="Text 8"/>
          <p:cNvSpPr/>
          <p:nvPr/>
        </p:nvSpPr>
        <p:spPr>
          <a:xfrm>
            <a:off x="982266" y="2412325"/>
            <a:ext cx="4755237" cy="294680"/>
          </a:xfrm>
          <a:prstGeom prst="rect">
            <a:avLst/>
          </a:prstGeom>
          <a:noFill/>
          <a:ln/>
        </p:spPr>
        <p:txBody>
          <a:bodyPr wrap="none" lIns="0" tIns="0" rIns="0" bIns="0" rtlCol="0" anchor="t"/>
          <a:lstStyle/>
          <a:p>
            <a:pPr marL="0" indent="0" algn="l">
              <a:lnSpc>
                <a:spcPts val="230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Application Compliance for Authentication</a:t>
            </a:r>
            <a:endParaRPr lang="en-US" sz="1600" b="1">
              <a:latin typeface="Arial" panose="020B0604020202020204" pitchFamily="34" charset="0"/>
              <a:cs typeface="Arial" panose="020B0604020202020204" pitchFamily="34" charset="0"/>
            </a:endParaRPr>
          </a:p>
        </p:txBody>
      </p:sp>
      <p:sp>
        <p:nvSpPr>
          <p:cNvPr id="11" name="Text 9"/>
          <p:cNvSpPr/>
          <p:nvPr/>
        </p:nvSpPr>
        <p:spPr>
          <a:xfrm>
            <a:off x="982266" y="2814399"/>
            <a:ext cx="6054923" cy="945237"/>
          </a:xfrm>
          <a:prstGeom prst="rect">
            <a:avLst/>
          </a:prstGeom>
          <a:noFill/>
          <a:ln/>
        </p:spPr>
        <p:txBody>
          <a:bodyPr wrap="square" lIns="0" tIns="0" rIns="0" bIns="0" rtlCol="0" anchor="t"/>
          <a:lstStyle/>
          <a:p>
            <a:pPr marL="342900" indent="-342900" algn="l">
              <a:lnSpc>
                <a:spcPts val="23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Determine coverage of authentication services across applications</a:t>
            </a:r>
            <a:endParaRPr lang="en-US" sz="160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Identify non-compliant or missing integrations</a:t>
            </a:r>
            <a:endParaRPr lang="en-US" sz="1600">
              <a:latin typeface="Arial" panose="020B0604020202020204" pitchFamily="34" charset="0"/>
              <a:cs typeface="Arial" panose="020B0604020202020204" pitchFamily="34" charset="0"/>
            </a:endParaRPr>
          </a:p>
        </p:txBody>
      </p:sp>
      <p:sp>
        <p:nvSpPr>
          <p:cNvPr id="12" name="Shape 10"/>
          <p:cNvSpPr/>
          <p:nvPr/>
        </p:nvSpPr>
        <p:spPr>
          <a:xfrm>
            <a:off x="7404735" y="2223849"/>
            <a:ext cx="6431875" cy="1724263"/>
          </a:xfrm>
          <a:prstGeom prst="roundRect">
            <a:avLst>
              <a:gd name="adj" fmla="val 1640"/>
            </a:avLst>
          </a:prstGeom>
          <a:solidFill>
            <a:srgbClr val="EDEBE3"/>
          </a:solidFill>
          <a:ln>
            <a:solidFill>
              <a:schemeClr val="tx1"/>
            </a:solidFill>
          </a:ln>
        </p:spPr>
        <p:txBody>
          <a:bodyPr/>
          <a:lstStyle/>
          <a:p>
            <a:endParaRPr lang="en-GB" sz="1600">
              <a:latin typeface="Arial" panose="020B0604020202020204" pitchFamily="34" charset="0"/>
              <a:cs typeface="Arial" panose="020B0604020202020204" pitchFamily="34" charset="0"/>
            </a:endParaRPr>
          </a:p>
        </p:txBody>
      </p:sp>
      <p:sp>
        <p:nvSpPr>
          <p:cNvPr id="13" name="Text 11"/>
          <p:cNvSpPr/>
          <p:nvPr/>
        </p:nvSpPr>
        <p:spPr>
          <a:xfrm>
            <a:off x="7593211" y="2412325"/>
            <a:ext cx="5206603" cy="294680"/>
          </a:xfrm>
          <a:prstGeom prst="rect">
            <a:avLst/>
          </a:prstGeom>
          <a:noFill/>
          <a:ln/>
        </p:spPr>
        <p:txBody>
          <a:bodyPr wrap="none" lIns="0" tIns="0" rIns="0" bIns="0" rtlCol="0" anchor="t"/>
          <a:lstStyle/>
          <a:p>
            <a:pPr marL="0" indent="0" algn="l">
              <a:lnSpc>
                <a:spcPts val="230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Multi-Factor Authentication (MFA) Compliance</a:t>
            </a:r>
            <a:endParaRPr lang="en-US" sz="1600" b="1">
              <a:latin typeface="Arial" panose="020B0604020202020204" pitchFamily="34" charset="0"/>
              <a:cs typeface="Arial" panose="020B0604020202020204" pitchFamily="34" charset="0"/>
            </a:endParaRPr>
          </a:p>
        </p:txBody>
      </p:sp>
      <p:sp>
        <p:nvSpPr>
          <p:cNvPr id="14" name="Text 12"/>
          <p:cNvSpPr/>
          <p:nvPr/>
        </p:nvSpPr>
        <p:spPr>
          <a:xfrm>
            <a:off x="7593211" y="2814399"/>
            <a:ext cx="6054923" cy="651034"/>
          </a:xfrm>
          <a:prstGeom prst="rect">
            <a:avLst/>
          </a:prstGeom>
          <a:noFill/>
          <a:ln/>
        </p:spPr>
        <p:txBody>
          <a:bodyPr wrap="square" lIns="0" tIns="0" rIns="0" bIns="0" rtlCol="0" anchor="t"/>
          <a:lstStyle/>
          <a:p>
            <a:pPr marL="342900" indent="-342900" algn="l">
              <a:lnSpc>
                <a:spcPts val="23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Assess MFA deployment across onboarded applications</a:t>
            </a:r>
            <a:endParaRPr lang="en-US" sz="160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Verify mandatory MFA enforcement</a:t>
            </a:r>
            <a:endParaRPr lang="en-US" sz="1600">
              <a:latin typeface="Arial" panose="020B0604020202020204" pitchFamily="34" charset="0"/>
              <a:cs typeface="Arial" panose="020B0604020202020204" pitchFamily="34" charset="0"/>
            </a:endParaRPr>
          </a:p>
        </p:txBody>
      </p:sp>
      <p:sp>
        <p:nvSpPr>
          <p:cNvPr id="15" name="Shape 13"/>
          <p:cNvSpPr/>
          <p:nvPr/>
        </p:nvSpPr>
        <p:spPr>
          <a:xfrm>
            <a:off x="793790" y="4120040"/>
            <a:ext cx="13032700" cy="1794033"/>
          </a:xfrm>
          <a:prstGeom prst="roundRect">
            <a:avLst>
              <a:gd name="adj" fmla="val 1583"/>
            </a:avLst>
          </a:prstGeom>
          <a:solidFill>
            <a:srgbClr val="EDEBE3"/>
          </a:solidFill>
          <a:ln>
            <a:solidFill>
              <a:schemeClr val="tx1"/>
            </a:solidFill>
          </a:ln>
        </p:spPr>
        <p:txBody>
          <a:bodyPr/>
          <a:lstStyle/>
          <a:p>
            <a:endParaRPr lang="en-GB" sz="1600">
              <a:latin typeface="Arial" panose="020B0604020202020204" pitchFamily="34" charset="0"/>
              <a:cs typeface="Arial" panose="020B0604020202020204" pitchFamily="34" charset="0"/>
            </a:endParaRPr>
          </a:p>
        </p:txBody>
      </p:sp>
      <p:sp>
        <p:nvSpPr>
          <p:cNvPr id="16" name="Text 14"/>
          <p:cNvSpPr/>
          <p:nvPr/>
        </p:nvSpPr>
        <p:spPr>
          <a:xfrm>
            <a:off x="982266" y="4315658"/>
            <a:ext cx="2356842" cy="294680"/>
          </a:xfrm>
          <a:prstGeom prst="rect">
            <a:avLst/>
          </a:prstGeom>
          <a:noFill/>
          <a:ln/>
        </p:spPr>
        <p:txBody>
          <a:bodyPr wrap="none" lIns="0" tIns="0" rIns="0" bIns="0" rtlCol="0" anchor="t"/>
          <a:lstStyle/>
          <a:p>
            <a:pPr marL="0" indent="0" algn="l">
              <a:lnSpc>
                <a:spcPts val="230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Desktop MFA (DMFA)</a:t>
            </a:r>
            <a:endParaRPr lang="en-US" sz="1600" b="1">
              <a:latin typeface="Arial" panose="020B0604020202020204" pitchFamily="34" charset="0"/>
              <a:cs typeface="Arial" panose="020B0604020202020204" pitchFamily="34" charset="0"/>
            </a:endParaRPr>
          </a:p>
        </p:txBody>
      </p:sp>
      <p:sp>
        <p:nvSpPr>
          <p:cNvPr id="17" name="Text 15"/>
          <p:cNvSpPr/>
          <p:nvPr/>
        </p:nvSpPr>
        <p:spPr>
          <a:xfrm>
            <a:off x="982266" y="4717733"/>
            <a:ext cx="6054923" cy="1007864"/>
          </a:xfrm>
          <a:prstGeom prst="rect">
            <a:avLst/>
          </a:prstGeom>
          <a:noFill/>
          <a:ln/>
        </p:spPr>
        <p:txBody>
          <a:bodyPr wrap="square" lIns="0" tIns="0" rIns="0" bIns="0" rtlCol="0" anchor="t"/>
          <a:lstStyle/>
          <a:p>
            <a:pPr marL="342900" indent="-342900" algn="l">
              <a:lnSpc>
                <a:spcPts val="23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Review Windows Hello for Business (WHB) deployment</a:t>
            </a:r>
            <a:endParaRPr lang="en-US" sz="160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Assess 2FA compliance on company laptops/desktops</a:t>
            </a:r>
            <a:endParaRPr lang="en-US" sz="160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Verify Windows Hello for Business enrollment rates</a:t>
            </a:r>
            <a:endParaRPr lang="en-US" sz="1600">
              <a:latin typeface="Arial" panose="020B0604020202020204" pitchFamily="34" charset="0"/>
              <a:cs typeface="Arial" panose="020B0604020202020204" pitchFamily="34" charset="0"/>
            </a:endParaRPr>
          </a:p>
        </p:txBody>
      </p:sp>
      <p:sp>
        <p:nvSpPr>
          <p:cNvPr id="21" name="Text 19"/>
          <p:cNvSpPr/>
          <p:nvPr/>
        </p:nvSpPr>
        <p:spPr>
          <a:xfrm>
            <a:off x="793790" y="6294596"/>
            <a:ext cx="2356842" cy="294680"/>
          </a:xfrm>
          <a:prstGeom prst="rect">
            <a:avLst/>
          </a:prstGeom>
          <a:noFill/>
          <a:ln/>
        </p:spPr>
        <p:txBody>
          <a:bodyPr wrap="none" lIns="0" tIns="0" rIns="0" bIns="0" rtlCol="0" anchor="t"/>
          <a:lstStyle/>
          <a:p>
            <a:pPr marL="0" indent="0" algn="l">
              <a:lnSpc>
                <a:spcPts val="230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Data Sources</a:t>
            </a:r>
            <a:endParaRPr lang="en-US" sz="1600" b="1">
              <a:latin typeface="Arial" panose="020B0604020202020204" pitchFamily="34" charset="0"/>
              <a:cs typeface="Arial" panose="020B0604020202020204" pitchFamily="34" charset="0"/>
            </a:endParaRPr>
          </a:p>
        </p:txBody>
      </p:sp>
      <p:sp>
        <p:nvSpPr>
          <p:cNvPr id="22" name="Text 20"/>
          <p:cNvSpPr/>
          <p:nvPr/>
        </p:nvSpPr>
        <p:spPr>
          <a:xfrm>
            <a:off x="793790" y="6768346"/>
            <a:ext cx="6291382" cy="294203"/>
          </a:xfrm>
          <a:prstGeom prst="rect">
            <a:avLst/>
          </a:prstGeom>
          <a:noFill/>
          <a:ln/>
        </p:spPr>
        <p:txBody>
          <a:bodyPr wrap="none" lIns="0" tIns="0" rIns="0" bIns="0" rtlCol="0" anchor="t"/>
          <a:lstStyle/>
          <a:p>
            <a:pPr marL="0" indent="0" algn="l">
              <a:lnSpc>
                <a:spcPts val="2300"/>
              </a:lnSpc>
              <a:buNone/>
            </a:pPr>
            <a:r>
              <a:rPr lang="en-US" sz="1600">
                <a:solidFill>
                  <a:srgbClr val="161613"/>
                </a:solidFill>
                <a:latin typeface="Arial" panose="020B0604020202020204" pitchFamily="34" charset="0"/>
                <a:ea typeface="Inter" pitchFamily="34" charset="-122"/>
                <a:cs typeface="Arial" panose="020B0604020202020204" pitchFamily="34" charset="0"/>
              </a:rPr>
              <a:t>CMDB, Entra (SSO), ForgeRock (MFA), WHB, Active Directory</a:t>
            </a:r>
            <a:endParaRPr lang="en-US" sz="1600">
              <a:latin typeface="Arial" panose="020B0604020202020204" pitchFamily="34" charset="0"/>
              <a:cs typeface="Arial" panose="020B0604020202020204" pitchFamily="34" charset="0"/>
            </a:endParaRPr>
          </a:p>
        </p:txBody>
      </p:sp>
      <p:sp>
        <p:nvSpPr>
          <p:cNvPr id="23" name="Text 21"/>
          <p:cNvSpPr/>
          <p:nvPr/>
        </p:nvSpPr>
        <p:spPr>
          <a:xfrm>
            <a:off x="7552849" y="6294596"/>
            <a:ext cx="2356842" cy="294680"/>
          </a:xfrm>
          <a:prstGeom prst="rect">
            <a:avLst/>
          </a:prstGeom>
          <a:noFill/>
          <a:ln/>
        </p:spPr>
        <p:txBody>
          <a:bodyPr wrap="none" lIns="0" tIns="0" rIns="0" bIns="0" rtlCol="0" anchor="t"/>
          <a:lstStyle/>
          <a:p>
            <a:pPr marL="0" indent="0" algn="l">
              <a:lnSpc>
                <a:spcPts val="230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Key Metrics</a:t>
            </a:r>
            <a:endParaRPr lang="en-US" sz="1600" b="1">
              <a:latin typeface="Arial" panose="020B0604020202020204" pitchFamily="34" charset="0"/>
              <a:cs typeface="Arial" panose="020B0604020202020204" pitchFamily="34" charset="0"/>
            </a:endParaRPr>
          </a:p>
        </p:txBody>
      </p:sp>
      <p:sp>
        <p:nvSpPr>
          <p:cNvPr id="24" name="Text 22"/>
          <p:cNvSpPr/>
          <p:nvPr/>
        </p:nvSpPr>
        <p:spPr>
          <a:xfrm>
            <a:off x="7552849" y="6768346"/>
            <a:ext cx="6291382" cy="588407"/>
          </a:xfrm>
          <a:prstGeom prst="rect">
            <a:avLst/>
          </a:prstGeom>
          <a:noFill/>
          <a:ln/>
        </p:spPr>
        <p:txBody>
          <a:bodyPr wrap="square" lIns="0" tIns="0" rIns="0" bIns="0" rtlCol="0" anchor="t"/>
          <a:lstStyle/>
          <a:p>
            <a:pPr marL="0" indent="0" algn="l">
              <a:lnSpc>
                <a:spcPts val="2300"/>
              </a:lnSpc>
              <a:buNone/>
            </a:pPr>
            <a:r>
              <a:rPr lang="en-US" sz="1600" dirty="0">
                <a:solidFill>
                  <a:srgbClr val="161613"/>
                </a:solidFill>
                <a:latin typeface="Arial" panose="020B0604020202020204" pitchFamily="34" charset="0"/>
                <a:ea typeface="Inter" pitchFamily="34" charset="-122"/>
                <a:cs typeface="Arial" panose="020B0604020202020204" pitchFamily="34" charset="0"/>
              </a:rPr>
              <a:t>Application onboarding rates, MFA coverage, DMFA compliance</a:t>
            </a: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91408"/>
            <a:ext cx="10133648" cy="527090"/>
          </a:xfrm>
          <a:prstGeom prst="rect">
            <a:avLst/>
          </a:prstGeom>
          <a:noFill/>
          <a:ln/>
        </p:spPr>
        <p:txBody>
          <a:bodyPr wrap="none" lIns="0" tIns="0" rIns="0" bIns="0" rtlCol="0" anchor="t"/>
          <a:lstStyle/>
          <a:p>
            <a:pPr marL="0" indent="0" algn="l">
              <a:lnSpc>
                <a:spcPts val="4150"/>
              </a:lnSpc>
              <a:buNone/>
            </a:pPr>
            <a:r>
              <a:rPr lang="en-US" sz="4000">
                <a:solidFill>
                  <a:srgbClr val="161613"/>
                </a:solidFill>
                <a:latin typeface="Arial Black" panose="020B0A04020102020204" pitchFamily="34" charset="0"/>
                <a:ea typeface="DM Sans Medium" pitchFamily="34" charset="-122"/>
                <a:cs typeface="Arial" panose="020B0604020202020204" pitchFamily="34" charset="0"/>
              </a:rPr>
              <a:t>Privileged Access Management (PAM)</a:t>
            </a:r>
            <a:endParaRPr lang="en-US" sz="4000">
              <a:latin typeface="Arial Black" panose="020B0A04020102020204" pitchFamily="34" charset="0"/>
              <a:cs typeface="Arial" panose="020B0604020202020204" pitchFamily="34" charset="0"/>
            </a:endParaRPr>
          </a:p>
        </p:txBody>
      </p:sp>
      <p:sp>
        <p:nvSpPr>
          <p:cNvPr id="3" name="Shape 1"/>
          <p:cNvSpPr/>
          <p:nvPr/>
        </p:nvSpPr>
        <p:spPr>
          <a:xfrm>
            <a:off x="790923" y="1526381"/>
            <a:ext cx="2901086" cy="375045"/>
          </a:xfrm>
          <a:prstGeom prst="roundRect">
            <a:avLst>
              <a:gd name="adj" fmla="val 6726"/>
            </a:avLst>
          </a:prstGeom>
          <a:ln/>
        </p:spPr>
        <p:style>
          <a:lnRef idx="2">
            <a:schemeClr val="dk1"/>
          </a:lnRef>
          <a:fillRef idx="1">
            <a:schemeClr val="lt1"/>
          </a:fillRef>
          <a:effectRef idx="0">
            <a:schemeClr val="dk1"/>
          </a:effectRef>
          <a:fontRef idx="minor">
            <a:schemeClr val="dk1"/>
          </a:fontRef>
        </p:style>
        <p:txBody>
          <a:bodyPr anchor="ctr"/>
          <a:lstStyle/>
          <a:p>
            <a:pPr algn="ctr"/>
            <a:r>
              <a:rPr lang="en-US" sz="1600" dirty="0">
                <a:solidFill>
                  <a:srgbClr val="161613"/>
                </a:solidFill>
                <a:latin typeface="Arial" panose="020B0604020202020204" pitchFamily="34" charset="0"/>
                <a:ea typeface="Inter" pitchFamily="34" charset="-122"/>
                <a:cs typeface="Arial" panose="020B0604020202020204" pitchFamily="34" charset="0"/>
              </a:rPr>
              <a:t>AUDIT: 2026-GT-2222</a:t>
            </a:r>
            <a:endParaRPr lang="en-US" sz="1600" dirty="0">
              <a:latin typeface="Arial" panose="020B0604020202020204" pitchFamily="34" charset="0"/>
              <a:cs typeface="Arial" panose="020B0604020202020204" pitchFamily="34" charset="0"/>
            </a:endParaRPr>
          </a:p>
        </p:txBody>
      </p:sp>
      <p:sp>
        <p:nvSpPr>
          <p:cNvPr id="5" name="Shape 3"/>
          <p:cNvSpPr/>
          <p:nvPr/>
        </p:nvSpPr>
        <p:spPr>
          <a:xfrm>
            <a:off x="3857030" y="1536427"/>
            <a:ext cx="2494532" cy="375045"/>
          </a:xfrm>
          <a:prstGeom prst="roundRect">
            <a:avLst>
              <a:gd name="adj" fmla="val 6402"/>
            </a:avLst>
          </a:prstGeom>
          <a:noFill/>
          <a:ln w="7620">
            <a:solidFill>
              <a:srgbClr val="28282F"/>
            </a:solidFill>
            <a:prstDash val="solid"/>
          </a:ln>
        </p:spPr>
        <p:txBody>
          <a:bodyPr anchor="ctr"/>
          <a:lstStyle/>
          <a:p>
            <a:pPr algn="ctr"/>
            <a:r>
              <a:rPr lang="en-US" sz="1600">
                <a:solidFill>
                  <a:srgbClr val="28282F"/>
                </a:solidFill>
                <a:latin typeface="Arial" panose="020B0604020202020204" pitchFamily="34" charset="0"/>
                <a:ea typeface="Inter" pitchFamily="34" charset="-122"/>
                <a:cs typeface="Arial" panose="020B0604020202020204" pitchFamily="34" charset="0"/>
              </a:rPr>
              <a:t>APR 20 – JUL 24, 2026</a:t>
            </a:r>
            <a:endParaRPr lang="en-US" sz="1600">
              <a:latin typeface="Arial" panose="020B0604020202020204" pitchFamily="34" charset="0"/>
              <a:cs typeface="Arial" panose="020B0604020202020204" pitchFamily="34" charset="0"/>
            </a:endParaRPr>
          </a:p>
        </p:txBody>
      </p:sp>
      <p:sp>
        <p:nvSpPr>
          <p:cNvPr id="7" name="Shape 5"/>
          <p:cNvSpPr/>
          <p:nvPr/>
        </p:nvSpPr>
        <p:spPr>
          <a:xfrm>
            <a:off x="6526583" y="1536426"/>
            <a:ext cx="1597026" cy="374904"/>
          </a:xfrm>
          <a:prstGeom prst="roundRect">
            <a:avLst>
              <a:gd name="adj" fmla="val 6402"/>
            </a:avLst>
          </a:prstGeom>
          <a:noFill/>
          <a:ln w="7620">
            <a:solidFill>
              <a:srgbClr val="28282F"/>
            </a:solidFill>
            <a:prstDash val="solid"/>
          </a:ln>
        </p:spPr>
        <p:txBody>
          <a:bodyPr anchor="ctr"/>
          <a:lstStyle/>
          <a:p>
            <a:pPr algn="ctr"/>
            <a:r>
              <a:rPr lang="en-US" sz="1600">
                <a:solidFill>
                  <a:srgbClr val="28282F"/>
                </a:solidFill>
                <a:latin typeface="Arial" panose="020B0604020202020204" pitchFamily="34" charset="0"/>
                <a:ea typeface="Inter" pitchFamily="34" charset="-122"/>
                <a:cs typeface="Arial" panose="020B0604020202020204" pitchFamily="34" charset="0"/>
              </a:rPr>
              <a:t>15 MAN-DAYS</a:t>
            </a:r>
            <a:endParaRPr lang="en-US" sz="1600">
              <a:latin typeface="Arial" panose="020B0604020202020204" pitchFamily="34" charset="0"/>
              <a:cs typeface="Arial" panose="020B0604020202020204" pitchFamily="34" charset="0"/>
            </a:endParaRPr>
          </a:p>
        </p:txBody>
      </p:sp>
      <p:sp>
        <p:nvSpPr>
          <p:cNvPr id="9" name="Shape 7"/>
          <p:cNvSpPr/>
          <p:nvPr/>
        </p:nvSpPr>
        <p:spPr>
          <a:xfrm>
            <a:off x="672345" y="2082641"/>
            <a:ext cx="9430121" cy="5355550"/>
          </a:xfrm>
          <a:prstGeom prst="roundRect">
            <a:avLst>
              <a:gd name="adj" fmla="val 473"/>
            </a:avLst>
          </a:prstGeom>
          <a:solidFill>
            <a:srgbClr val="28282F"/>
          </a:solidFill>
          <a:ln/>
        </p:spPr>
        <p:txBody>
          <a:bodyPr/>
          <a:lstStyle/>
          <a:p>
            <a:endParaRPr lang="en-GB" sz="1600">
              <a:latin typeface="Arial" panose="020B0604020202020204" pitchFamily="34" charset="0"/>
              <a:cs typeface="Arial" panose="020B0604020202020204" pitchFamily="34" charset="0"/>
            </a:endParaRPr>
          </a:p>
        </p:txBody>
      </p:sp>
      <p:sp>
        <p:nvSpPr>
          <p:cNvPr id="10" name="Text 8"/>
          <p:cNvSpPr/>
          <p:nvPr/>
        </p:nvSpPr>
        <p:spPr>
          <a:xfrm>
            <a:off x="840938" y="2225993"/>
            <a:ext cx="2108716" cy="263485"/>
          </a:xfrm>
          <a:prstGeom prst="rect">
            <a:avLst/>
          </a:prstGeom>
          <a:noFill/>
          <a:ln/>
        </p:spPr>
        <p:txBody>
          <a:bodyPr wrap="none" lIns="0" tIns="0" rIns="0" bIns="0" rtlCol="0" anchor="t"/>
          <a:lstStyle/>
          <a:p>
            <a:pPr marL="0" indent="0" algn="l">
              <a:lnSpc>
                <a:spcPts val="2050"/>
              </a:lnSpc>
              <a:buNone/>
            </a:pPr>
            <a:r>
              <a:rPr lang="en-US" sz="1600" b="1">
                <a:solidFill>
                  <a:srgbClr val="FFFFFF"/>
                </a:solidFill>
                <a:latin typeface="Arial" panose="020B0604020202020204" pitchFamily="34" charset="0"/>
                <a:ea typeface="DM Sans Medium" pitchFamily="34" charset="-122"/>
                <a:cs typeface="Arial" panose="020B0604020202020204" pitchFamily="34" charset="0"/>
              </a:rPr>
              <a:t>Key Focus Areas</a:t>
            </a:r>
            <a:endParaRPr lang="en-US" sz="1600" b="1">
              <a:latin typeface="Arial" panose="020B0604020202020204" pitchFamily="34" charset="0"/>
              <a:cs typeface="Arial" panose="020B0604020202020204" pitchFamily="34" charset="0"/>
            </a:endParaRPr>
          </a:p>
        </p:txBody>
      </p:sp>
      <p:sp>
        <p:nvSpPr>
          <p:cNvPr id="13" name="Text 11"/>
          <p:cNvSpPr/>
          <p:nvPr/>
        </p:nvSpPr>
        <p:spPr>
          <a:xfrm>
            <a:off x="1363861" y="2708672"/>
            <a:ext cx="2493169" cy="263485"/>
          </a:xfrm>
          <a:prstGeom prst="rect">
            <a:avLst/>
          </a:prstGeom>
          <a:noFill/>
          <a:ln/>
        </p:spPr>
        <p:txBody>
          <a:bodyPr wrap="none" lIns="0" tIns="0" rIns="0" bIns="0" rtlCol="0" anchor="t"/>
          <a:lstStyle/>
          <a:p>
            <a:pPr marL="0" indent="0" algn="l">
              <a:lnSpc>
                <a:spcPts val="2050"/>
              </a:lnSpc>
              <a:buNone/>
            </a:pPr>
            <a:endParaRPr lang="en-US" sz="1600">
              <a:latin typeface="Arial" panose="020B0604020202020204" pitchFamily="34" charset="0"/>
              <a:cs typeface="Arial" panose="020B0604020202020204" pitchFamily="34" charset="0"/>
            </a:endParaRPr>
          </a:p>
        </p:txBody>
      </p:sp>
      <p:sp>
        <p:nvSpPr>
          <p:cNvPr id="14" name="Text 12"/>
          <p:cNvSpPr/>
          <p:nvPr/>
        </p:nvSpPr>
        <p:spPr>
          <a:xfrm>
            <a:off x="1363861" y="3115508"/>
            <a:ext cx="2498169" cy="2097643"/>
          </a:xfrm>
          <a:prstGeom prst="rect">
            <a:avLst/>
          </a:prstGeom>
          <a:noFill/>
          <a:ln/>
        </p:spPr>
        <p:txBody>
          <a:bodyPr wrap="square" lIns="0" tIns="0" rIns="0" bIns="0" rtlCol="0" anchor="t"/>
          <a:lstStyle/>
          <a:p>
            <a:pPr marL="342900" indent="-342900" algn="l">
              <a:lnSpc>
                <a:spcPts val="1950"/>
              </a:lnSpc>
              <a:buSzPct val="100000"/>
              <a:buChar char="•"/>
            </a:pPr>
            <a:endParaRPr lang="en-US" sz="1600">
              <a:latin typeface="Arial" panose="020B0604020202020204" pitchFamily="34" charset="0"/>
              <a:cs typeface="Arial" panose="020B0604020202020204" pitchFamily="34" charset="0"/>
            </a:endParaRPr>
          </a:p>
        </p:txBody>
      </p:sp>
      <p:sp>
        <p:nvSpPr>
          <p:cNvPr id="17" name="Text 15"/>
          <p:cNvSpPr/>
          <p:nvPr/>
        </p:nvSpPr>
        <p:spPr>
          <a:xfrm>
            <a:off x="5625440" y="2777967"/>
            <a:ext cx="2498169" cy="526971"/>
          </a:xfrm>
          <a:prstGeom prst="rect">
            <a:avLst/>
          </a:prstGeom>
          <a:noFill/>
          <a:ln/>
        </p:spPr>
        <p:txBody>
          <a:bodyPr wrap="square" lIns="0" tIns="0" rIns="0" bIns="0" rtlCol="0" anchor="t"/>
          <a:lstStyle/>
          <a:p>
            <a:pPr marL="0" indent="0" algn="l">
              <a:lnSpc>
                <a:spcPts val="2050"/>
              </a:lnSpc>
              <a:buNone/>
            </a:pPr>
            <a:endParaRPr lang="en-US" sz="1600">
              <a:latin typeface="Arial" panose="020B0604020202020204" pitchFamily="34" charset="0"/>
              <a:cs typeface="Arial" panose="020B0604020202020204" pitchFamily="34" charset="0"/>
            </a:endParaRPr>
          </a:p>
        </p:txBody>
      </p:sp>
      <p:sp>
        <p:nvSpPr>
          <p:cNvPr id="18" name="Text 16"/>
          <p:cNvSpPr/>
          <p:nvPr/>
        </p:nvSpPr>
        <p:spPr>
          <a:xfrm>
            <a:off x="5718492" y="3482816"/>
            <a:ext cx="4152621" cy="1048822"/>
          </a:xfrm>
          <a:prstGeom prst="rect">
            <a:avLst/>
          </a:prstGeom>
          <a:noFill/>
          <a:ln/>
        </p:spPr>
        <p:txBody>
          <a:bodyPr wrap="square" lIns="0" tIns="0" rIns="0" bIns="0" rtlCol="0" anchor="t"/>
          <a:lstStyle/>
          <a:p>
            <a:pPr marL="342900" indent="-342900" algn="l">
              <a:lnSpc>
                <a:spcPts val="1950"/>
              </a:lnSpc>
              <a:buSzPct val="100000"/>
              <a:buChar char="•"/>
            </a:pPr>
            <a:endParaRPr lang="en-US" sz="1600">
              <a:latin typeface="Arial" panose="020B0604020202020204" pitchFamily="34" charset="0"/>
              <a:cs typeface="Arial" panose="020B0604020202020204" pitchFamily="34" charset="0"/>
            </a:endParaRPr>
          </a:p>
        </p:txBody>
      </p:sp>
      <p:sp>
        <p:nvSpPr>
          <p:cNvPr id="21" name="Text 19"/>
          <p:cNvSpPr/>
          <p:nvPr/>
        </p:nvSpPr>
        <p:spPr>
          <a:xfrm>
            <a:off x="1363861" y="5557838"/>
            <a:ext cx="2328148" cy="263485"/>
          </a:xfrm>
          <a:prstGeom prst="rect">
            <a:avLst/>
          </a:prstGeom>
          <a:noFill/>
          <a:ln/>
        </p:spPr>
        <p:txBody>
          <a:bodyPr wrap="none" lIns="0" tIns="0" rIns="0" bIns="0" rtlCol="0" anchor="t"/>
          <a:lstStyle/>
          <a:p>
            <a:pPr marL="0" indent="0" algn="l">
              <a:lnSpc>
                <a:spcPts val="2050"/>
              </a:lnSpc>
              <a:buNone/>
            </a:pPr>
            <a:endParaRPr lang="en-US" sz="1600">
              <a:latin typeface="Arial" panose="020B0604020202020204" pitchFamily="34" charset="0"/>
              <a:cs typeface="Arial" panose="020B0604020202020204" pitchFamily="34" charset="0"/>
            </a:endParaRPr>
          </a:p>
        </p:txBody>
      </p:sp>
      <p:sp>
        <p:nvSpPr>
          <p:cNvPr id="22" name="Text 20"/>
          <p:cNvSpPr/>
          <p:nvPr/>
        </p:nvSpPr>
        <p:spPr>
          <a:xfrm>
            <a:off x="1363861" y="5964674"/>
            <a:ext cx="2498169" cy="1048822"/>
          </a:xfrm>
          <a:prstGeom prst="rect">
            <a:avLst/>
          </a:prstGeom>
          <a:noFill/>
          <a:ln/>
        </p:spPr>
        <p:txBody>
          <a:bodyPr wrap="square" lIns="0" tIns="0" rIns="0" bIns="0" rtlCol="0" anchor="t"/>
          <a:lstStyle/>
          <a:p>
            <a:pPr marL="342900" indent="-342900" algn="l">
              <a:lnSpc>
                <a:spcPts val="1950"/>
              </a:lnSpc>
              <a:buSzPct val="100000"/>
              <a:buChar char="•"/>
            </a:pPr>
            <a:endParaRPr lang="en-US" sz="1600">
              <a:latin typeface="Arial" panose="020B0604020202020204" pitchFamily="34" charset="0"/>
              <a:cs typeface="Arial" panose="020B0604020202020204" pitchFamily="34" charset="0"/>
            </a:endParaRPr>
          </a:p>
        </p:txBody>
      </p:sp>
      <p:sp>
        <p:nvSpPr>
          <p:cNvPr id="25" name="Text 23"/>
          <p:cNvSpPr/>
          <p:nvPr/>
        </p:nvSpPr>
        <p:spPr>
          <a:xfrm>
            <a:off x="4564142" y="5557838"/>
            <a:ext cx="2498169" cy="526971"/>
          </a:xfrm>
          <a:prstGeom prst="rect">
            <a:avLst/>
          </a:prstGeom>
          <a:noFill/>
          <a:ln/>
        </p:spPr>
        <p:txBody>
          <a:bodyPr wrap="square" lIns="0" tIns="0" rIns="0" bIns="0" rtlCol="0" anchor="t"/>
          <a:lstStyle/>
          <a:p>
            <a:pPr marL="0" indent="0" algn="l">
              <a:lnSpc>
                <a:spcPts val="2050"/>
              </a:lnSpc>
              <a:buNone/>
            </a:pPr>
            <a:endParaRPr lang="en-US" sz="1600">
              <a:latin typeface="Arial" panose="020B0604020202020204" pitchFamily="34" charset="0"/>
              <a:cs typeface="Arial" panose="020B0604020202020204" pitchFamily="34" charset="0"/>
            </a:endParaRPr>
          </a:p>
        </p:txBody>
      </p:sp>
      <p:sp>
        <p:nvSpPr>
          <p:cNvPr id="26" name="Text 24"/>
          <p:cNvSpPr/>
          <p:nvPr/>
        </p:nvSpPr>
        <p:spPr>
          <a:xfrm>
            <a:off x="4564142" y="6228159"/>
            <a:ext cx="2498169" cy="1048822"/>
          </a:xfrm>
          <a:prstGeom prst="rect">
            <a:avLst/>
          </a:prstGeom>
          <a:noFill/>
          <a:ln/>
        </p:spPr>
        <p:txBody>
          <a:bodyPr wrap="square" lIns="0" tIns="0" rIns="0" bIns="0" rtlCol="0" anchor="t"/>
          <a:lstStyle/>
          <a:p>
            <a:pPr marL="342900" indent="-342900" algn="l">
              <a:lnSpc>
                <a:spcPts val="1950"/>
              </a:lnSpc>
              <a:buSzPct val="100000"/>
              <a:buChar char="•"/>
            </a:pPr>
            <a:endParaRPr lang="en-US" sz="1600">
              <a:latin typeface="Arial" panose="020B0604020202020204" pitchFamily="34" charset="0"/>
              <a:cs typeface="Arial" panose="020B0604020202020204" pitchFamily="34" charset="0"/>
            </a:endParaRPr>
          </a:p>
        </p:txBody>
      </p:sp>
      <p:sp>
        <p:nvSpPr>
          <p:cNvPr id="27" name="Text 25"/>
          <p:cNvSpPr/>
          <p:nvPr/>
        </p:nvSpPr>
        <p:spPr>
          <a:xfrm>
            <a:off x="10405944" y="2225993"/>
            <a:ext cx="2108716" cy="263485"/>
          </a:xfrm>
          <a:prstGeom prst="rect">
            <a:avLst/>
          </a:prstGeom>
          <a:noFill/>
          <a:ln/>
        </p:spPr>
        <p:txBody>
          <a:bodyPr wrap="none" lIns="0" tIns="0" rIns="0" bIns="0" rtlCol="0" anchor="t"/>
          <a:lstStyle/>
          <a:p>
            <a:pPr marL="0" indent="0" algn="l">
              <a:lnSpc>
                <a:spcPts val="205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Data Sources</a:t>
            </a:r>
            <a:endParaRPr lang="en-US" sz="1600" b="1">
              <a:latin typeface="Arial" panose="020B0604020202020204" pitchFamily="34" charset="0"/>
              <a:cs typeface="Arial" panose="020B0604020202020204" pitchFamily="34" charset="0"/>
            </a:endParaRPr>
          </a:p>
        </p:txBody>
      </p:sp>
      <p:sp>
        <p:nvSpPr>
          <p:cNvPr id="28" name="Text 26"/>
          <p:cNvSpPr/>
          <p:nvPr/>
        </p:nvSpPr>
        <p:spPr>
          <a:xfrm>
            <a:off x="10405944" y="2632829"/>
            <a:ext cx="3320236" cy="365760"/>
          </a:xfrm>
          <a:prstGeom prst="rect">
            <a:avLst/>
          </a:prstGeom>
          <a:noFill/>
          <a:ln/>
        </p:spPr>
        <p:txBody>
          <a:bodyPr wrap="none" lIns="0" tIns="0" rIns="0" bIns="0" rtlCol="0" anchor="t"/>
          <a:lstStyle/>
          <a:p>
            <a:pPr marL="0" indent="0" algn="l">
              <a:lnSpc>
                <a:spcPts val="1950"/>
              </a:lnSpc>
              <a:buNone/>
            </a:pPr>
            <a:r>
              <a:rPr lang="en-US" sz="1600">
                <a:solidFill>
                  <a:srgbClr val="161613"/>
                </a:solidFill>
                <a:latin typeface="Arial" panose="020B0604020202020204" pitchFamily="34" charset="0"/>
                <a:ea typeface="Inter" pitchFamily="34" charset="-122"/>
                <a:cs typeface="Arial" panose="020B0604020202020204" pitchFamily="34" charset="0"/>
              </a:rPr>
              <a:t>OneVault, SuccessFactors, OneCert</a:t>
            </a:r>
            <a:endParaRPr lang="en-US" sz="1600">
              <a:latin typeface="Arial" panose="020B0604020202020204" pitchFamily="34" charset="0"/>
              <a:cs typeface="Arial" panose="020B0604020202020204" pitchFamily="34" charset="0"/>
            </a:endParaRPr>
          </a:p>
        </p:txBody>
      </p:sp>
      <p:sp>
        <p:nvSpPr>
          <p:cNvPr id="29" name="Text 27"/>
          <p:cNvSpPr/>
          <p:nvPr/>
        </p:nvSpPr>
        <p:spPr>
          <a:xfrm>
            <a:off x="10443990" y="3103900"/>
            <a:ext cx="2108716" cy="263485"/>
          </a:xfrm>
          <a:prstGeom prst="rect">
            <a:avLst/>
          </a:prstGeom>
          <a:noFill/>
          <a:ln/>
        </p:spPr>
        <p:txBody>
          <a:bodyPr wrap="none" lIns="0" tIns="0" rIns="0" bIns="0" rtlCol="0" anchor="t"/>
          <a:lstStyle/>
          <a:p>
            <a:pPr marL="0" indent="0" algn="l">
              <a:lnSpc>
                <a:spcPts val="205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Key Metrics</a:t>
            </a:r>
            <a:endParaRPr lang="en-US" sz="1600" b="1">
              <a:latin typeface="Arial" panose="020B0604020202020204" pitchFamily="34" charset="0"/>
              <a:cs typeface="Arial" panose="020B0604020202020204" pitchFamily="34" charset="0"/>
            </a:endParaRPr>
          </a:p>
        </p:txBody>
      </p:sp>
      <p:sp>
        <p:nvSpPr>
          <p:cNvPr id="30" name="Text 28"/>
          <p:cNvSpPr/>
          <p:nvPr/>
        </p:nvSpPr>
        <p:spPr>
          <a:xfrm>
            <a:off x="10443990" y="3432691"/>
            <a:ext cx="3400240" cy="1149072"/>
          </a:xfrm>
          <a:prstGeom prst="rect">
            <a:avLst/>
          </a:prstGeom>
          <a:noFill/>
          <a:ln/>
        </p:spPr>
        <p:txBody>
          <a:bodyPr wrap="square" lIns="0" tIns="0" rIns="0" bIns="0" rtlCol="0" anchor="t"/>
          <a:lstStyle/>
          <a:p>
            <a:pPr marL="342900" indent="-342900" algn="l">
              <a:lnSpc>
                <a:spcPts val="195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Session duration</a:t>
            </a:r>
            <a:endParaRPr lang="en-US" sz="1600">
              <a:latin typeface="Arial" panose="020B0604020202020204" pitchFamily="34" charset="0"/>
              <a:cs typeface="Arial" panose="020B0604020202020204" pitchFamily="34" charset="0"/>
            </a:endParaRPr>
          </a:p>
          <a:p>
            <a:pPr marL="342900" indent="-342900" algn="l">
              <a:lnSpc>
                <a:spcPts val="195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Withdrawal frequency</a:t>
            </a:r>
            <a:endParaRPr lang="en-US" sz="1600">
              <a:latin typeface="Arial" panose="020B0604020202020204" pitchFamily="34" charset="0"/>
              <a:cs typeface="Arial" panose="020B0604020202020204" pitchFamily="34" charset="0"/>
            </a:endParaRPr>
          </a:p>
          <a:p>
            <a:pPr marL="342900" indent="-342900" algn="l">
              <a:lnSpc>
                <a:spcPts val="195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SoD compliance</a:t>
            </a:r>
            <a:endParaRPr lang="en-US" sz="1600">
              <a:latin typeface="Arial" panose="020B0604020202020204" pitchFamily="34" charset="0"/>
              <a:cs typeface="Arial" panose="020B0604020202020204" pitchFamily="34" charset="0"/>
            </a:endParaRPr>
          </a:p>
          <a:p>
            <a:pPr marL="342900" indent="-342900" algn="l">
              <a:lnSpc>
                <a:spcPts val="195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Rotation cycles</a:t>
            </a:r>
            <a:endParaRPr lang="en-US" sz="1600">
              <a:latin typeface="Arial" panose="020B0604020202020204" pitchFamily="34" charset="0"/>
              <a:cs typeface="Arial" panose="020B0604020202020204" pitchFamily="34" charset="0"/>
            </a:endParaRPr>
          </a:p>
        </p:txBody>
      </p:sp>
      <p:graphicFrame>
        <p:nvGraphicFramePr>
          <p:cNvPr id="31" name="Table 30">
            <a:extLst>
              <a:ext uri="{FF2B5EF4-FFF2-40B4-BE49-F238E27FC236}">
                <a16:creationId xmlns:a16="http://schemas.microsoft.com/office/drawing/2014/main" id="{0F1B82D8-8BAE-B4EB-044A-B4FE8BF70623}"/>
              </a:ext>
            </a:extLst>
          </p:cNvPr>
          <p:cNvGraphicFramePr>
            <a:graphicFrameLocks noGrp="1"/>
          </p:cNvGraphicFramePr>
          <p:nvPr>
            <p:extLst>
              <p:ext uri="{D42A27DB-BD31-4B8C-83A1-F6EECF244321}">
                <p14:modId xmlns:p14="http://schemas.microsoft.com/office/powerpoint/2010/main" val="121800112"/>
              </p:ext>
            </p:extLst>
          </p:nvPr>
        </p:nvGraphicFramePr>
        <p:xfrm>
          <a:off x="793790" y="2611397"/>
          <a:ext cx="9165458" cy="4560584"/>
        </p:xfrm>
        <a:graphic>
          <a:graphicData uri="http://schemas.openxmlformats.org/drawingml/2006/table">
            <a:tbl>
              <a:tblPr firstRow="1" bandRow="1">
                <a:tableStyleId>{5940675A-B579-460E-94D1-54222C63F5DA}</a:tableStyleId>
              </a:tblPr>
              <a:tblGrid>
                <a:gridCol w="4582729">
                  <a:extLst>
                    <a:ext uri="{9D8B030D-6E8A-4147-A177-3AD203B41FA5}">
                      <a16:colId xmlns:a16="http://schemas.microsoft.com/office/drawing/2014/main" val="103008417"/>
                    </a:ext>
                  </a:extLst>
                </a:gridCol>
                <a:gridCol w="4582729">
                  <a:extLst>
                    <a:ext uri="{9D8B030D-6E8A-4147-A177-3AD203B41FA5}">
                      <a16:colId xmlns:a16="http://schemas.microsoft.com/office/drawing/2014/main" val="1990720071"/>
                    </a:ext>
                  </a:extLst>
                </a:gridCol>
              </a:tblGrid>
              <a:tr h="2496287">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600" b="1">
                          <a:solidFill>
                            <a:schemeClr val="bg1"/>
                          </a:solidFill>
                          <a:latin typeface="Arial" panose="020B0604020202020204" pitchFamily="34" charset="0"/>
                          <a:cs typeface="Arial" panose="020B0604020202020204" pitchFamily="34" charset="0"/>
                        </a:rPr>
                        <a:t>PID Session Management</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Identify anomalous sessions (&gt;12 hours duration)</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Flag excessive PID withdrawals (&gt;5 per day)</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Detect access during approved block leave periods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chemeClr val="bg1"/>
                          </a:solidFill>
                          <a:latin typeface="Arial" panose="020B0604020202020204" pitchFamily="34" charset="0"/>
                          <a:cs typeface="Arial" panose="020B0604020202020204" pitchFamily="34" charset="0"/>
                        </a:rPr>
                        <a:t>2. Domain Approval &amp; Release Controls</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Verify segregation of duties (approver ≠ requestor)</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Validate approval workflows</a:t>
                      </a:r>
                    </a:p>
                  </a:txBody>
                  <a:tcPr/>
                </a:tc>
                <a:extLst>
                  <a:ext uri="{0D108BD9-81ED-4DB2-BD59-A6C34878D82A}">
                    <a16:rowId xmlns:a16="http://schemas.microsoft.com/office/drawing/2014/main" val="2179879248"/>
                  </a:ext>
                </a:extLst>
              </a:tr>
              <a:tr h="20642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chemeClr val="bg1"/>
                          </a:solidFill>
                          <a:latin typeface="Arial" panose="020B0604020202020204" pitchFamily="34" charset="0"/>
                          <a:cs typeface="Arial" panose="020B0604020202020204" pitchFamily="34" charset="0"/>
                        </a:rPr>
                        <a:t>3. PID Access Assignment</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Review access grouping appropriateness</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Ensure principle of least privilege</a:t>
                      </a:r>
                    </a:p>
                    <a:p>
                      <a:endParaRPr lang="en-GB" sz="1600" b="0">
                        <a:solidFill>
                          <a:schemeClr val="bg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chemeClr val="bg1"/>
                          </a:solidFill>
                          <a:latin typeface="Arial" panose="020B0604020202020204" pitchFamily="34" charset="0"/>
                          <a:cs typeface="Arial" panose="020B0604020202020204" pitchFamily="34" charset="0"/>
                        </a:rPr>
                        <a:t>4. Password Rotation Compliance</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Validate rotation frequency adherence</a:t>
                      </a:r>
                    </a:p>
                    <a:p>
                      <a:pPr marL="342900" indent="-342900" algn="l">
                        <a:lnSpc>
                          <a:spcPts val="1950"/>
                        </a:lnSpc>
                        <a:buSzPct val="100000"/>
                        <a:buChar char="•"/>
                      </a:pPr>
                      <a:r>
                        <a:rPr lang="en-US" sz="1600" b="0">
                          <a:solidFill>
                            <a:schemeClr val="bg1"/>
                          </a:solidFill>
                          <a:latin typeface="Arial" panose="020B0604020202020204" pitchFamily="34" charset="0"/>
                          <a:cs typeface="Arial" panose="020B0604020202020204" pitchFamily="34" charset="0"/>
                        </a:rPr>
                        <a:t>Confirm post-use password changes</a:t>
                      </a:r>
                    </a:p>
                    <a:p>
                      <a:endParaRPr lang="en-GB" sz="1600" b="0">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9294898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782328" y="459834"/>
            <a:ext cx="7556421" cy="992267"/>
          </a:xfrm>
          <a:prstGeom prst="rect">
            <a:avLst/>
          </a:prstGeom>
          <a:noFill/>
          <a:ln/>
        </p:spPr>
        <p:txBody>
          <a:bodyPr wrap="square" lIns="0" tIns="0" rIns="0" bIns="0" rtlCol="0" anchor="t"/>
          <a:lstStyle/>
          <a:p>
            <a:pPr marL="0" indent="0" algn="l">
              <a:lnSpc>
                <a:spcPts val="3900"/>
              </a:lnSpc>
              <a:buNone/>
            </a:pPr>
            <a:r>
              <a:rPr lang="en-US" sz="4000">
                <a:solidFill>
                  <a:srgbClr val="161613"/>
                </a:solidFill>
                <a:latin typeface="Arial Black" panose="020B0A04020102020204" pitchFamily="34" charset="0"/>
                <a:ea typeface="DM Sans Medium" pitchFamily="34" charset="-122"/>
                <a:cs typeface="Arial" panose="020B0604020202020204" pitchFamily="34" charset="0"/>
              </a:rPr>
              <a:t>Ransomware &amp; Malware Protection</a:t>
            </a:r>
            <a:endParaRPr lang="en-US" sz="4000">
              <a:latin typeface="Arial Black" panose="020B0A04020102020204" pitchFamily="34" charset="0"/>
              <a:cs typeface="Arial" panose="020B0604020202020204" pitchFamily="34" charset="0"/>
            </a:endParaRPr>
          </a:p>
        </p:txBody>
      </p:sp>
      <p:sp>
        <p:nvSpPr>
          <p:cNvPr id="4" name="Shape 1"/>
          <p:cNvSpPr/>
          <p:nvPr/>
        </p:nvSpPr>
        <p:spPr>
          <a:xfrm>
            <a:off x="5782328" y="1572974"/>
            <a:ext cx="3102173" cy="374904"/>
          </a:xfrm>
          <a:prstGeom prst="roundRect">
            <a:avLst>
              <a:gd name="adj" fmla="val 6851"/>
            </a:avLst>
          </a:prstGeom>
          <a:ln/>
        </p:spPr>
        <p:style>
          <a:lnRef idx="2">
            <a:schemeClr val="dk1"/>
          </a:lnRef>
          <a:fillRef idx="1">
            <a:schemeClr val="lt1"/>
          </a:fillRef>
          <a:effectRef idx="0">
            <a:schemeClr val="dk1"/>
          </a:effectRef>
          <a:fontRef idx="minor">
            <a:schemeClr val="dk1"/>
          </a:fontRef>
        </p:style>
        <p:txBody>
          <a:bodyPr anchor="ctr"/>
          <a:lstStyle/>
          <a:p>
            <a:pPr algn="ctr"/>
            <a:r>
              <a:rPr lang="en-US" sz="1600" dirty="0">
                <a:solidFill>
                  <a:srgbClr val="161613"/>
                </a:solidFill>
                <a:latin typeface="Arial" panose="020B0604020202020204" pitchFamily="34" charset="0"/>
                <a:ea typeface="Inter" pitchFamily="34" charset="-122"/>
                <a:cs typeface="Arial" panose="020B0604020202020204" pitchFamily="34" charset="0"/>
              </a:rPr>
              <a:t>AUDIT: 2026-GT-3333</a:t>
            </a:r>
            <a:endParaRPr lang="en-US" sz="1600" dirty="0">
              <a:latin typeface="Arial" panose="020B0604020202020204" pitchFamily="34" charset="0"/>
              <a:cs typeface="Arial" panose="020B0604020202020204" pitchFamily="34" charset="0"/>
            </a:endParaRPr>
          </a:p>
        </p:txBody>
      </p:sp>
      <p:sp>
        <p:nvSpPr>
          <p:cNvPr id="6" name="Shape 3"/>
          <p:cNvSpPr/>
          <p:nvPr/>
        </p:nvSpPr>
        <p:spPr>
          <a:xfrm>
            <a:off x="8977260" y="1561639"/>
            <a:ext cx="2336112" cy="374904"/>
          </a:xfrm>
          <a:prstGeom prst="roundRect">
            <a:avLst>
              <a:gd name="adj" fmla="val 6495"/>
            </a:avLst>
          </a:prstGeom>
          <a:noFill/>
          <a:ln w="7620">
            <a:solidFill>
              <a:srgbClr val="28282F"/>
            </a:solidFill>
            <a:prstDash val="solid"/>
          </a:ln>
        </p:spPr>
        <p:txBody>
          <a:bodyPr anchor="ctr"/>
          <a:lstStyle/>
          <a:p>
            <a:pPr algn="ctr"/>
            <a:r>
              <a:rPr lang="en-US" sz="1600">
                <a:solidFill>
                  <a:srgbClr val="28282F"/>
                </a:solidFill>
                <a:latin typeface="Arial" panose="020B0604020202020204" pitchFamily="34" charset="0"/>
                <a:ea typeface="Inter" pitchFamily="34" charset="-122"/>
                <a:cs typeface="Arial" panose="020B0604020202020204" pitchFamily="34" charset="0"/>
              </a:rPr>
              <a:t>JUN 1 – AUG 21, 2026</a:t>
            </a:r>
            <a:endParaRPr lang="en-US" sz="1600">
              <a:latin typeface="Arial" panose="020B0604020202020204" pitchFamily="34" charset="0"/>
              <a:cs typeface="Arial" panose="020B0604020202020204" pitchFamily="34" charset="0"/>
            </a:endParaRPr>
          </a:p>
        </p:txBody>
      </p:sp>
      <p:sp>
        <p:nvSpPr>
          <p:cNvPr id="8" name="Shape 5"/>
          <p:cNvSpPr/>
          <p:nvPr/>
        </p:nvSpPr>
        <p:spPr>
          <a:xfrm>
            <a:off x="11406131" y="1551718"/>
            <a:ext cx="1669852" cy="374904"/>
          </a:xfrm>
          <a:prstGeom prst="roundRect">
            <a:avLst>
              <a:gd name="adj" fmla="val 6495"/>
            </a:avLst>
          </a:prstGeom>
          <a:noFill/>
          <a:ln w="7620">
            <a:solidFill>
              <a:srgbClr val="28282F"/>
            </a:solidFill>
            <a:prstDash val="solid"/>
          </a:ln>
        </p:spPr>
        <p:txBody>
          <a:bodyPr anchor="ctr"/>
          <a:lstStyle/>
          <a:p>
            <a:pPr algn="ctr"/>
            <a:r>
              <a:rPr lang="en-US" sz="1600">
                <a:solidFill>
                  <a:srgbClr val="28282F"/>
                </a:solidFill>
                <a:latin typeface="Arial" panose="020B0604020202020204" pitchFamily="34" charset="0"/>
                <a:ea typeface="Inter" pitchFamily="34" charset="-122"/>
                <a:cs typeface="Arial" panose="020B0604020202020204" pitchFamily="34" charset="0"/>
              </a:rPr>
              <a:t>10 MAN-DAYS</a:t>
            </a:r>
            <a:endParaRPr lang="en-US" sz="1600">
              <a:latin typeface="Arial" panose="020B0604020202020204" pitchFamily="34" charset="0"/>
              <a:cs typeface="Arial" panose="020B0604020202020204" pitchFamily="34" charset="0"/>
            </a:endParaRPr>
          </a:p>
        </p:txBody>
      </p:sp>
      <p:sp>
        <p:nvSpPr>
          <p:cNvPr id="10" name="Text 7"/>
          <p:cNvSpPr/>
          <p:nvPr/>
        </p:nvSpPr>
        <p:spPr>
          <a:xfrm>
            <a:off x="5766912" y="2304455"/>
            <a:ext cx="4097894" cy="311671"/>
          </a:xfrm>
          <a:prstGeom prst="rect">
            <a:avLst/>
          </a:prstGeom>
          <a:noFill/>
          <a:ln/>
        </p:spPr>
        <p:txBody>
          <a:bodyPr wrap="square" lIns="0" tIns="0" rIns="0" bIns="0" rtlCol="0" anchor="t"/>
          <a:lstStyle/>
          <a:p>
            <a:pPr marL="0" indent="0" algn="l">
              <a:lnSpc>
                <a:spcPts val="195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Desktops, Laptops &amp; Server Protection</a:t>
            </a:r>
            <a:endParaRPr lang="en-US" sz="1600" b="1">
              <a:latin typeface="Arial" panose="020B0604020202020204" pitchFamily="34" charset="0"/>
              <a:cs typeface="Arial" panose="020B0604020202020204" pitchFamily="34" charset="0"/>
            </a:endParaRPr>
          </a:p>
        </p:txBody>
      </p:sp>
      <p:sp>
        <p:nvSpPr>
          <p:cNvPr id="11" name="Text 8"/>
          <p:cNvSpPr/>
          <p:nvPr/>
        </p:nvSpPr>
        <p:spPr>
          <a:xfrm>
            <a:off x="5764113" y="2597784"/>
            <a:ext cx="4097893" cy="1460421"/>
          </a:xfrm>
          <a:prstGeom prst="rect">
            <a:avLst/>
          </a:prstGeom>
          <a:noFill/>
          <a:ln/>
        </p:spPr>
        <p:txBody>
          <a:bodyPr wrap="square" lIns="0" tIns="0" rIns="0" bIns="0" rtlCol="0" anchor="t"/>
          <a:lstStyle/>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Verify all company desktops protected by approved anti-malware solution</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Verify all servers protected by approved anti-malware solution</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Assess MAC devices and alternate endpoint protection</a:t>
            </a:r>
            <a:endParaRPr lang="en-US" sz="1600">
              <a:latin typeface="Arial" panose="020B0604020202020204" pitchFamily="34" charset="0"/>
              <a:cs typeface="Arial" panose="020B0604020202020204" pitchFamily="34" charset="0"/>
            </a:endParaRPr>
          </a:p>
        </p:txBody>
      </p:sp>
      <p:sp>
        <p:nvSpPr>
          <p:cNvPr id="12" name="Text 9"/>
          <p:cNvSpPr/>
          <p:nvPr/>
        </p:nvSpPr>
        <p:spPr>
          <a:xfrm>
            <a:off x="5764113" y="4203263"/>
            <a:ext cx="3102173" cy="248007"/>
          </a:xfrm>
          <a:prstGeom prst="rect">
            <a:avLst/>
          </a:prstGeom>
          <a:noFill/>
          <a:ln/>
        </p:spPr>
        <p:txBody>
          <a:bodyPr wrap="none" lIns="0" tIns="0" rIns="0" bIns="0" rtlCol="0" anchor="t"/>
          <a:lstStyle/>
          <a:p>
            <a:pPr marL="0" indent="0" algn="l">
              <a:lnSpc>
                <a:spcPts val="195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Coverage Analysis by Technology</a:t>
            </a:r>
            <a:endParaRPr lang="en-US" sz="1600" b="1">
              <a:latin typeface="Arial" panose="020B0604020202020204" pitchFamily="34" charset="0"/>
              <a:cs typeface="Arial" panose="020B0604020202020204" pitchFamily="34" charset="0"/>
            </a:endParaRPr>
          </a:p>
        </p:txBody>
      </p:sp>
      <p:sp>
        <p:nvSpPr>
          <p:cNvPr id="13" name="Text 10"/>
          <p:cNvSpPr/>
          <p:nvPr/>
        </p:nvSpPr>
        <p:spPr>
          <a:xfrm>
            <a:off x="5782328" y="4550519"/>
            <a:ext cx="4097893" cy="1276231"/>
          </a:xfrm>
          <a:prstGeom prst="rect">
            <a:avLst/>
          </a:prstGeom>
          <a:noFill/>
          <a:ln/>
        </p:spPr>
        <p:txBody>
          <a:bodyPr wrap="square" lIns="0" tIns="0" rIns="0" bIns="0" rtlCol="0" anchor="t"/>
          <a:lstStyle/>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SentinelOne (S1) deployment for servers</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Microsoft Defender for Endpoint (MDE) deployment for desktops/laptops</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Intune for mobile device management</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Tanium for asset inventory cross-check</a:t>
            </a:r>
            <a:endParaRPr lang="en-US" sz="1600">
              <a:latin typeface="Arial" panose="020B0604020202020204" pitchFamily="34" charset="0"/>
              <a:cs typeface="Arial" panose="020B0604020202020204" pitchFamily="34" charset="0"/>
            </a:endParaRPr>
          </a:p>
        </p:txBody>
      </p:sp>
      <p:sp>
        <p:nvSpPr>
          <p:cNvPr id="14" name="Text 11"/>
          <p:cNvSpPr/>
          <p:nvPr/>
        </p:nvSpPr>
        <p:spPr>
          <a:xfrm>
            <a:off x="5764113" y="5939094"/>
            <a:ext cx="1984653" cy="248007"/>
          </a:xfrm>
          <a:prstGeom prst="rect">
            <a:avLst/>
          </a:prstGeom>
          <a:noFill/>
          <a:ln/>
        </p:spPr>
        <p:txBody>
          <a:bodyPr wrap="none" lIns="0" tIns="0" rIns="0" bIns="0" rtlCol="0" anchor="t"/>
          <a:lstStyle/>
          <a:p>
            <a:pPr marL="0" indent="0" algn="l">
              <a:lnSpc>
                <a:spcPts val="1950"/>
              </a:lnSpc>
              <a:buNone/>
            </a:pPr>
            <a:r>
              <a:rPr lang="en-US" sz="1600" b="1">
                <a:solidFill>
                  <a:srgbClr val="161613"/>
                </a:solidFill>
                <a:latin typeface="Arial" panose="020B0604020202020204" pitchFamily="34" charset="0"/>
                <a:ea typeface="DM Sans Medium" pitchFamily="34" charset="-122"/>
                <a:cs typeface="Arial" panose="020B0604020202020204" pitchFamily="34" charset="0"/>
              </a:rPr>
              <a:t>Protection Gaps</a:t>
            </a:r>
            <a:endParaRPr lang="en-US" sz="1600" b="1">
              <a:latin typeface="Arial" panose="020B0604020202020204" pitchFamily="34" charset="0"/>
              <a:cs typeface="Arial" panose="020B0604020202020204" pitchFamily="34" charset="0"/>
            </a:endParaRPr>
          </a:p>
        </p:txBody>
      </p:sp>
      <p:sp>
        <p:nvSpPr>
          <p:cNvPr id="15" name="Text 12"/>
          <p:cNvSpPr/>
          <p:nvPr/>
        </p:nvSpPr>
        <p:spPr>
          <a:xfrm>
            <a:off x="5751495" y="6247921"/>
            <a:ext cx="4067055" cy="958810"/>
          </a:xfrm>
          <a:prstGeom prst="rect">
            <a:avLst/>
          </a:prstGeom>
          <a:noFill/>
          <a:ln/>
        </p:spPr>
        <p:txBody>
          <a:bodyPr wrap="square" lIns="0" tIns="0" rIns="0" bIns="0" rtlCol="0" anchor="t"/>
          <a:lstStyle/>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Identify unprotected or non-compliant endpoints</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161613"/>
                </a:solidFill>
                <a:latin typeface="Arial" panose="020B0604020202020204" pitchFamily="34" charset="0"/>
                <a:ea typeface="Inter" pitchFamily="34" charset="-122"/>
                <a:cs typeface="Arial" panose="020B0604020202020204" pitchFamily="34" charset="0"/>
              </a:rPr>
              <a:t>Detect devices with lapsed/outdated protection</a:t>
            </a:r>
            <a:endParaRPr lang="en-US" sz="1600">
              <a:latin typeface="Arial" panose="020B0604020202020204" pitchFamily="34" charset="0"/>
              <a:cs typeface="Arial" panose="020B0604020202020204" pitchFamily="34" charset="0"/>
            </a:endParaRPr>
          </a:p>
        </p:txBody>
      </p:sp>
      <p:sp>
        <p:nvSpPr>
          <p:cNvPr id="16" name="Shape 13"/>
          <p:cNvSpPr/>
          <p:nvPr/>
        </p:nvSpPr>
        <p:spPr>
          <a:xfrm>
            <a:off x="10145316" y="2177534"/>
            <a:ext cx="3813215" cy="5493425"/>
          </a:xfrm>
          <a:prstGeom prst="roundRect">
            <a:avLst>
              <a:gd name="adj" fmla="val 625"/>
            </a:avLst>
          </a:prstGeom>
          <a:solidFill>
            <a:srgbClr val="28282F"/>
          </a:solidFill>
          <a:ln/>
        </p:spPr>
        <p:txBody>
          <a:bodyPr/>
          <a:lstStyle/>
          <a:p>
            <a:endParaRPr lang="en-GB" sz="1600" b="1">
              <a:latin typeface="Arial" panose="020B0604020202020204" pitchFamily="34" charset="0"/>
              <a:cs typeface="Arial" panose="020B0604020202020204" pitchFamily="34" charset="0"/>
            </a:endParaRPr>
          </a:p>
        </p:txBody>
      </p:sp>
      <p:sp>
        <p:nvSpPr>
          <p:cNvPr id="17" name="Text 14"/>
          <p:cNvSpPr/>
          <p:nvPr/>
        </p:nvSpPr>
        <p:spPr>
          <a:xfrm>
            <a:off x="10304026" y="2304455"/>
            <a:ext cx="1984653" cy="248007"/>
          </a:xfrm>
          <a:prstGeom prst="rect">
            <a:avLst/>
          </a:prstGeom>
          <a:noFill/>
          <a:ln/>
        </p:spPr>
        <p:txBody>
          <a:bodyPr wrap="none" lIns="0" tIns="0" rIns="0" bIns="0" rtlCol="0" anchor="t"/>
          <a:lstStyle/>
          <a:p>
            <a:pPr marL="0" indent="0" algn="l">
              <a:lnSpc>
                <a:spcPts val="1950"/>
              </a:lnSpc>
              <a:buNone/>
            </a:pPr>
            <a:r>
              <a:rPr lang="en-US" sz="1600" b="1">
                <a:solidFill>
                  <a:srgbClr val="FFFFFF"/>
                </a:solidFill>
                <a:latin typeface="Arial" panose="020B0604020202020204" pitchFamily="34" charset="0"/>
                <a:ea typeface="DM Sans Medium" pitchFamily="34" charset="-122"/>
                <a:cs typeface="Arial" panose="020B0604020202020204" pitchFamily="34" charset="0"/>
              </a:rPr>
              <a:t>Data Sources</a:t>
            </a:r>
            <a:endParaRPr lang="en-US" sz="1600" b="1">
              <a:latin typeface="Arial" panose="020B0604020202020204" pitchFamily="34" charset="0"/>
              <a:cs typeface="Arial" panose="020B0604020202020204" pitchFamily="34" charset="0"/>
            </a:endParaRPr>
          </a:p>
        </p:txBody>
      </p:sp>
      <p:sp>
        <p:nvSpPr>
          <p:cNvPr id="18" name="Text 15"/>
          <p:cNvSpPr/>
          <p:nvPr/>
        </p:nvSpPr>
        <p:spPr>
          <a:xfrm>
            <a:off x="10304026" y="2679383"/>
            <a:ext cx="3495794" cy="228600"/>
          </a:xfrm>
          <a:prstGeom prst="rect">
            <a:avLst/>
          </a:prstGeom>
          <a:noFill/>
          <a:ln/>
        </p:spPr>
        <p:txBody>
          <a:bodyPr wrap="none" lIns="0" tIns="0" rIns="0" bIns="0" rtlCol="0" anchor="t"/>
          <a:lstStyle/>
          <a:p>
            <a:pPr marL="0" indent="0" algn="l">
              <a:lnSpc>
                <a:spcPts val="1800"/>
              </a:lnSpc>
              <a:buNone/>
            </a:pPr>
            <a:r>
              <a:rPr lang="en-US" sz="1600">
                <a:solidFill>
                  <a:srgbClr val="FFFFFF"/>
                </a:solidFill>
                <a:latin typeface="Arial" panose="020B0604020202020204" pitchFamily="34" charset="0"/>
                <a:ea typeface="Inter" pitchFamily="34" charset="-122"/>
                <a:cs typeface="Arial" panose="020B0604020202020204" pitchFamily="34" charset="0"/>
              </a:rPr>
              <a:t>SentinelOne (S1), MDE, Intune, </a:t>
            </a:r>
          </a:p>
          <a:p>
            <a:pPr marL="0" indent="0" algn="l">
              <a:lnSpc>
                <a:spcPts val="1800"/>
              </a:lnSpc>
              <a:buNone/>
            </a:pPr>
            <a:r>
              <a:rPr lang="en-US" sz="1600">
                <a:solidFill>
                  <a:srgbClr val="FFFFFF"/>
                </a:solidFill>
                <a:latin typeface="Arial" panose="020B0604020202020204" pitchFamily="34" charset="0"/>
                <a:ea typeface="Inter" pitchFamily="34" charset="-122"/>
                <a:cs typeface="Arial" panose="020B0604020202020204" pitchFamily="34" charset="0"/>
              </a:rPr>
              <a:t>CMDB, Tanium</a:t>
            </a:r>
            <a:endParaRPr lang="en-US" sz="1600">
              <a:latin typeface="Arial" panose="020B0604020202020204" pitchFamily="34" charset="0"/>
              <a:cs typeface="Arial" panose="020B0604020202020204" pitchFamily="34" charset="0"/>
            </a:endParaRPr>
          </a:p>
        </p:txBody>
      </p:sp>
      <p:sp>
        <p:nvSpPr>
          <p:cNvPr id="19" name="Text 16"/>
          <p:cNvSpPr/>
          <p:nvPr/>
        </p:nvSpPr>
        <p:spPr>
          <a:xfrm>
            <a:off x="10304026" y="3327995"/>
            <a:ext cx="1984653" cy="248007"/>
          </a:xfrm>
          <a:prstGeom prst="rect">
            <a:avLst/>
          </a:prstGeom>
          <a:noFill/>
          <a:ln/>
        </p:spPr>
        <p:txBody>
          <a:bodyPr wrap="none" lIns="0" tIns="0" rIns="0" bIns="0" rtlCol="0" anchor="t"/>
          <a:lstStyle/>
          <a:p>
            <a:pPr marL="0" indent="0" algn="l">
              <a:lnSpc>
                <a:spcPts val="1950"/>
              </a:lnSpc>
              <a:buNone/>
            </a:pPr>
            <a:r>
              <a:rPr lang="en-US" sz="1600" b="1">
                <a:solidFill>
                  <a:srgbClr val="FFFFFF"/>
                </a:solidFill>
                <a:latin typeface="Arial" panose="020B0604020202020204" pitchFamily="34" charset="0"/>
                <a:ea typeface="DM Sans Medium" pitchFamily="34" charset="-122"/>
                <a:cs typeface="Arial" panose="020B0604020202020204" pitchFamily="34" charset="0"/>
              </a:rPr>
              <a:t>Key Metrics</a:t>
            </a:r>
            <a:endParaRPr lang="en-US" sz="1600" b="1">
              <a:latin typeface="Arial" panose="020B0604020202020204" pitchFamily="34" charset="0"/>
              <a:cs typeface="Arial" panose="020B0604020202020204" pitchFamily="34" charset="0"/>
            </a:endParaRPr>
          </a:p>
        </p:txBody>
      </p:sp>
      <p:sp>
        <p:nvSpPr>
          <p:cNvPr id="20" name="Text 17"/>
          <p:cNvSpPr/>
          <p:nvPr/>
        </p:nvSpPr>
        <p:spPr>
          <a:xfrm>
            <a:off x="10304026" y="3679447"/>
            <a:ext cx="3495794" cy="1047631"/>
          </a:xfrm>
          <a:prstGeom prst="rect">
            <a:avLst/>
          </a:prstGeom>
          <a:noFill/>
          <a:ln/>
        </p:spPr>
        <p:txBody>
          <a:bodyPr wrap="square" lIns="0" tIns="0" rIns="0" bIns="0" rtlCol="0" anchor="t"/>
          <a:lstStyle/>
          <a:p>
            <a:pPr marL="342900" indent="-342900" algn="l">
              <a:lnSpc>
                <a:spcPts val="1800"/>
              </a:lnSpc>
              <a:buSzPct val="100000"/>
              <a:buChar char="•"/>
            </a:pPr>
            <a:r>
              <a:rPr lang="en-US" sz="1600">
                <a:solidFill>
                  <a:srgbClr val="FFFFFF"/>
                </a:solidFill>
                <a:latin typeface="Arial" panose="020B0604020202020204" pitchFamily="34" charset="0"/>
                <a:ea typeface="Inter" pitchFamily="34" charset="-122"/>
                <a:cs typeface="Arial" panose="020B0604020202020204" pitchFamily="34" charset="0"/>
              </a:rPr>
              <a:t>Endpoint coverage %</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FFFFFF"/>
                </a:solidFill>
                <a:latin typeface="Arial" panose="020B0604020202020204" pitchFamily="34" charset="0"/>
                <a:ea typeface="Inter" pitchFamily="34" charset="-122"/>
                <a:cs typeface="Arial" panose="020B0604020202020204" pitchFamily="34" charset="0"/>
              </a:rPr>
              <a:t>Compliance %</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FFFFFF"/>
                </a:solidFill>
                <a:latin typeface="Arial" panose="020B0604020202020204" pitchFamily="34" charset="0"/>
                <a:ea typeface="Inter" pitchFamily="34" charset="-122"/>
                <a:cs typeface="Arial" panose="020B0604020202020204" pitchFamily="34" charset="0"/>
              </a:rPr>
              <a:t>Protection gaps</a:t>
            </a:r>
            <a:endParaRPr lang="en-US" sz="1600">
              <a:latin typeface="Arial" panose="020B0604020202020204" pitchFamily="34" charset="0"/>
              <a:cs typeface="Arial" panose="020B0604020202020204" pitchFamily="34" charset="0"/>
            </a:endParaRPr>
          </a:p>
          <a:p>
            <a:pPr marL="342900" indent="-342900" algn="l">
              <a:lnSpc>
                <a:spcPts val="1800"/>
              </a:lnSpc>
              <a:buSzPct val="100000"/>
              <a:buChar char="•"/>
            </a:pPr>
            <a:r>
              <a:rPr lang="en-US" sz="1600">
                <a:solidFill>
                  <a:srgbClr val="FFFFFF"/>
                </a:solidFill>
                <a:latin typeface="Arial" panose="020B0604020202020204" pitchFamily="34" charset="0"/>
                <a:ea typeface="Inter" pitchFamily="34" charset="-122"/>
                <a:cs typeface="Arial" panose="020B0604020202020204" pitchFamily="34" charset="0"/>
              </a:rPr>
              <a:t>Device inventory accuracy</a:t>
            </a:r>
            <a:endParaRPr lang="en-US" sz="16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C062B-7AD0-53AE-8032-CBC8194FA84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DAA69B0-5836-4A3D-E7DF-6036A3A36C10}"/>
              </a:ext>
            </a:extLst>
          </p:cNvPr>
          <p:cNvSpPr/>
          <p:nvPr/>
        </p:nvSpPr>
        <p:spPr>
          <a:xfrm>
            <a:off x="3320934" y="3778568"/>
            <a:ext cx="7987145" cy="665798"/>
          </a:xfrm>
          <a:prstGeom prst="rect">
            <a:avLst/>
          </a:prstGeom>
          <a:noFill/>
          <a:ln/>
        </p:spPr>
        <p:txBody>
          <a:bodyPr wrap="none" lIns="0" tIns="0" rIns="0" bIns="0" rtlCol="0" anchor="t"/>
          <a:lstStyle/>
          <a:p>
            <a:r>
              <a:rPr lang="en-US" sz="4000">
                <a:solidFill>
                  <a:srgbClr val="161613"/>
                </a:solidFill>
                <a:latin typeface="Arial Black"/>
                <a:ea typeface="DM Sans Medium" pitchFamily="34" charset="-122"/>
                <a:cs typeface="Arial"/>
              </a:rPr>
              <a:t>2026 Automation Use Cases</a:t>
            </a:r>
            <a:endParaRPr lang="en-US" sz="4000">
              <a:solidFill>
                <a:srgbClr val="000000"/>
              </a:solidFill>
              <a:latin typeface="Arial Black"/>
              <a:ea typeface="DM Sans Medium" pitchFamily="34" charset="-122"/>
              <a:cs typeface="Arial"/>
            </a:endParaRPr>
          </a:p>
          <a:p>
            <a:pPr marL="0" indent="0" algn="l">
              <a:lnSpc>
                <a:spcPts val="4850"/>
              </a:lnSpc>
              <a:buNone/>
            </a:pPr>
            <a:endParaRPr lang="en-US" sz="4000">
              <a:solidFill>
                <a:srgbClr val="161613"/>
              </a:solidFill>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2511196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699DF-E1DD-F719-FE6B-7280F027F6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E7FF18-FE96-0B93-F1DF-993F21A21CA7}"/>
              </a:ext>
            </a:extLst>
          </p:cNvPr>
          <p:cNvSpPr/>
          <p:nvPr/>
        </p:nvSpPr>
        <p:spPr>
          <a:xfrm>
            <a:off x="732830" y="486728"/>
            <a:ext cx="11657290" cy="620078"/>
          </a:xfrm>
          <a:prstGeom prst="rect">
            <a:avLst/>
          </a:prstGeom>
          <a:noFill/>
          <a:ln/>
        </p:spPr>
        <p:txBody>
          <a:bodyPr wrap="none" lIns="0" tIns="0" rIns="0" bIns="0" rtlCol="0" anchor="t"/>
          <a:lstStyle/>
          <a:p>
            <a:pPr marL="0" indent="0" algn="l">
              <a:lnSpc>
                <a:spcPts val="4850"/>
              </a:lnSpc>
              <a:buNone/>
            </a:pPr>
            <a:r>
              <a:rPr lang="en-US" sz="4000">
                <a:solidFill>
                  <a:srgbClr val="161613"/>
                </a:solidFill>
                <a:latin typeface="Arial Black" panose="020B0A04020102020204" pitchFamily="34" charset="0"/>
                <a:ea typeface="DM Sans Medium" pitchFamily="34" charset="-122"/>
                <a:cs typeface="Arial" panose="020B0604020202020204" pitchFamily="34" charset="0"/>
              </a:rPr>
              <a:t>2026 Automation Use Cases - Ananya</a:t>
            </a:r>
            <a:endParaRPr lang="en-US" sz="4000">
              <a:latin typeface="Arial Black" panose="020B0A040201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D35A9C23-4173-E277-A5CF-7BFD58E192E5}"/>
              </a:ext>
            </a:extLst>
          </p:cNvPr>
          <p:cNvGraphicFramePr>
            <a:graphicFrameLocks noGrp="1"/>
          </p:cNvGraphicFramePr>
          <p:nvPr>
            <p:extLst>
              <p:ext uri="{D42A27DB-BD31-4B8C-83A1-F6EECF244321}">
                <p14:modId xmlns:p14="http://schemas.microsoft.com/office/powerpoint/2010/main" val="1206256293"/>
              </p:ext>
            </p:extLst>
          </p:nvPr>
        </p:nvGraphicFramePr>
        <p:xfrm>
          <a:off x="731520" y="1417320"/>
          <a:ext cx="13098872" cy="6424850"/>
        </p:xfrm>
        <a:graphic>
          <a:graphicData uri="http://schemas.openxmlformats.org/drawingml/2006/table">
            <a:tbl>
              <a:tblPr bandRow="1">
                <a:tableStyleId>{5C22544A-7EE6-4342-B048-85BDC9FD1C3A}</a:tableStyleId>
              </a:tblPr>
              <a:tblGrid>
                <a:gridCol w="1260399">
                  <a:extLst>
                    <a:ext uri="{9D8B030D-6E8A-4147-A177-3AD203B41FA5}">
                      <a16:colId xmlns:a16="http://schemas.microsoft.com/office/drawing/2014/main" val="334175625"/>
                    </a:ext>
                  </a:extLst>
                </a:gridCol>
                <a:gridCol w="2033751">
                  <a:extLst>
                    <a:ext uri="{9D8B030D-6E8A-4147-A177-3AD203B41FA5}">
                      <a16:colId xmlns:a16="http://schemas.microsoft.com/office/drawing/2014/main" val="597241402"/>
                    </a:ext>
                  </a:extLst>
                </a:gridCol>
                <a:gridCol w="1816711">
                  <a:extLst>
                    <a:ext uri="{9D8B030D-6E8A-4147-A177-3AD203B41FA5}">
                      <a16:colId xmlns:a16="http://schemas.microsoft.com/office/drawing/2014/main" val="4087458181"/>
                    </a:ext>
                  </a:extLst>
                </a:gridCol>
                <a:gridCol w="1263113">
                  <a:extLst>
                    <a:ext uri="{9D8B030D-6E8A-4147-A177-3AD203B41FA5}">
                      <a16:colId xmlns:a16="http://schemas.microsoft.com/office/drawing/2014/main" val="4170669995"/>
                    </a:ext>
                  </a:extLst>
                </a:gridCol>
                <a:gridCol w="1155812">
                  <a:extLst>
                    <a:ext uri="{9D8B030D-6E8A-4147-A177-3AD203B41FA5}">
                      <a16:colId xmlns:a16="http://schemas.microsoft.com/office/drawing/2014/main" val="3817420957"/>
                    </a:ext>
                  </a:extLst>
                </a:gridCol>
                <a:gridCol w="1016096">
                  <a:extLst>
                    <a:ext uri="{9D8B030D-6E8A-4147-A177-3AD203B41FA5}">
                      <a16:colId xmlns:a16="http://schemas.microsoft.com/office/drawing/2014/main" val="1344424705"/>
                    </a:ext>
                  </a:extLst>
                </a:gridCol>
                <a:gridCol w="1016096">
                  <a:extLst>
                    <a:ext uri="{9D8B030D-6E8A-4147-A177-3AD203B41FA5}">
                      <a16:colId xmlns:a16="http://schemas.microsoft.com/office/drawing/2014/main" val="1486197667"/>
                    </a:ext>
                  </a:extLst>
                </a:gridCol>
                <a:gridCol w="1016096">
                  <a:extLst>
                    <a:ext uri="{9D8B030D-6E8A-4147-A177-3AD203B41FA5}">
                      <a16:colId xmlns:a16="http://schemas.microsoft.com/office/drawing/2014/main" val="858099332"/>
                    </a:ext>
                  </a:extLst>
                </a:gridCol>
                <a:gridCol w="1260399">
                  <a:extLst>
                    <a:ext uri="{9D8B030D-6E8A-4147-A177-3AD203B41FA5}">
                      <a16:colId xmlns:a16="http://schemas.microsoft.com/office/drawing/2014/main" val="676357792"/>
                    </a:ext>
                  </a:extLst>
                </a:gridCol>
                <a:gridCol w="1260399">
                  <a:extLst>
                    <a:ext uri="{9D8B030D-6E8A-4147-A177-3AD203B41FA5}">
                      <a16:colId xmlns:a16="http://schemas.microsoft.com/office/drawing/2014/main" val="1549316187"/>
                    </a:ext>
                  </a:extLst>
                </a:gridCol>
              </a:tblGrid>
              <a:tr h="851035">
                <a:tc>
                  <a:txBody>
                    <a:bodyPr/>
                    <a:lstStyle/>
                    <a:p>
                      <a:pPr>
                        <a:buNone/>
                      </a:pPr>
                      <a:r>
                        <a:rPr lang="en-US">
                          <a:effectLst/>
                        </a:rPr>
                        <a:t>Automation 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Problem Statement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Proposed 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Benefit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lvl="0">
                        <a:buNone/>
                      </a:pPr>
                      <a:r>
                        <a:rPr lang="en-US">
                          <a:effectLst/>
                        </a:rPr>
                        <a:t>Effort</a:t>
                      </a:r>
                      <a:endParaRPr lang="en-US" dirty="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5F5F5"/>
                    </a:solidFill>
                  </a:tcPr>
                </a:tc>
                <a:tc>
                  <a:txBody>
                    <a:bodyPr/>
                    <a:lstStyle/>
                    <a:p>
                      <a:pPr lvl="0">
                        <a:buNone/>
                      </a:pPr>
                      <a:r>
                        <a:rPr lang="en-US">
                          <a:effectLst/>
                        </a:rPr>
                        <a:t>Impact</a:t>
                      </a:r>
                      <a:endParaRPr lang="en-US" dirty="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5F5F5"/>
                    </a:solidFill>
                  </a:tcPr>
                </a:tc>
                <a:tc>
                  <a:txBody>
                    <a:bodyPr/>
                    <a:lstStyle/>
                    <a:p>
                      <a:pPr>
                        <a:buNone/>
                      </a:pPr>
                      <a:r>
                        <a:rPr lang="en-US">
                          <a:effectLst/>
                        </a:rPr>
                        <a:t>Data Repository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Dependency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Self‑Service/Analytics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855373661"/>
                  </a:ext>
                </a:extLst>
              </a:tr>
              <a:tr h="5510450">
                <a:tc>
                  <a:txBody>
                    <a:bodyPr/>
                    <a:lstStyle/>
                    <a:p>
                      <a:pPr>
                        <a:buNone/>
                      </a:pPr>
                      <a:r>
                        <a:rPr lang="en-US" b="1">
                          <a:effectLst/>
                        </a:rPr>
                        <a:t>UC‑01: Agentic AI Audit Workpaper Assistant</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dirty="0">
                          <a:effectLst/>
                        </a:rPr>
                        <a:t>Auditors spend significant time manually drafting RCMs, control workpapers, RFIs, and report sections. Walkthrough discussions from meetings must be manually captured, transcribed, and structured, leading to inefficiencies, inconsistency, and risk of missed observations.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effectLst/>
                        </a:rPr>
                        <a:t>An agentic AI solution that consumes walkthrough transcripts and audit data to automatically draft RCMs, populate control workpapers, generate report sections, and create RFIs. Human‑in‑the‑loop review ensures accuracy, governance, and auditability. </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effectLst/>
                        </a:rPr>
                        <a:t>40–60% reduction in documentation effort, improved consistency of audit language, faster RFI cycles, better capture of walkthrough evidence. </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effectLst/>
                        </a:rPr>
                        <a:t>Planning, Fieldwork, Reporting </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a:effectLst/>
                        </a:rPr>
                        <a:t>High</a:t>
                      </a:r>
                      <a:endParaRPr lang="en-US" dirty="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a:effectLst/>
                        </a:rPr>
                        <a:t>High</a:t>
                      </a:r>
                      <a:endParaRPr lang="en-US" dirty="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effectLst/>
                        </a:rPr>
                        <a:t>Teams meeting transcripts, prior audit workpapers, RCM templates, control descriptions, audit timelines, Jira tickets </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effectLst/>
                        </a:rPr>
                        <a:t>Human‑in‑the‑loop review model; access to transcripts and prior artefacts; template </a:t>
                      </a:r>
                      <a:r>
                        <a:rPr lang="en-US" dirty="0" err="1">
                          <a:effectLst/>
                        </a:rPr>
                        <a:t>standardisation</a:t>
                      </a:r>
                      <a:r>
                        <a:rPr lang="en-US" dirty="0">
                          <a:effectLst/>
                        </a:rPr>
                        <a:t>; governance and auditability requirements.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effectLst/>
                        </a:rPr>
                        <a:t>Analytics </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599293"/>
                  </a:ext>
                </a:extLst>
              </a:tr>
            </a:tbl>
          </a:graphicData>
        </a:graphic>
      </p:graphicFrame>
    </p:spTree>
    <p:extLst>
      <p:ext uri="{BB962C8B-B14F-4D97-AF65-F5344CB8AC3E}">
        <p14:creationId xmlns:p14="http://schemas.microsoft.com/office/powerpoint/2010/main" val="3555637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7B15C-09DB-E319-AC0D-B7F46328DB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232F97-082E-E2D5-BCB7-88E917B825CA}"/>
              </a:ext>
            </a:extLst>
          </p:cNvPr>
          <p:cNvSpPr/>
          <p:nvPr/>
        </p:nvSpPr>
        <p:spPr>
          <a:xfrm>
            <a:off x="732830" y="486728"/>
            <a:ext cx="11657290" cy="620078"/>
          </a:xfrm>
          <a:prstGeom prst="rect">
            <a:avLst/>
          </a:prstGeom>
          <a:noFill/>
          <a:ln/>
        </p:spPr>
        <p:txBody>
          <a:bodyPr wrap="none" lIns="0" tIns="0" rIns="0" bIns="0" rtlCol="0" anchor="t"/>
          <a:lstStyle/>
          <a:p>
            <a:pPr marL="0" indent="0" algn="l">
              <a:lnSpc>
                <a:spcPts val="4850"/>
              </a:lnSpc>
              <a:buNone/>
            </a:pPr>
            <a:r>
              <a:rPr lang="en-US" sz="4000">
                <a:solidFill>
                  <a:srgbClr val="161613"/>
                </a:solidFill>
                <a:latin typeface="Arial Black" panose="020B0A04020102020204" pitchFamily="34" charset="0"/>
                <a:ea typeface="DM Sans Medium" pitchFamily="34" charset="-122"/>
                <a:cs typeface="Arial" panose="020B0604020202020204" pitchFamily="34" charset="0"/>
              </a:rPr>
              <a:t>2026 Automation Use Cases - Ananya</a:t>
            </a:r>
            <a:endParaRPr lang="en-US" sz="4000">
              <a:latin typeface="Arial Black" panose="020B0A040201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313B2554-484A-E9BA-A944-F41F462B6766}"/>
              </a:ext>
            </a:extLst>
          </p:cNvPr>
          <p:cNvGraphicFramePr>
            <a:graphicFrameLocks noGrp="1"/>
          </p:cNvGraphicFramePr>
          <p:nvPr>
            <p:extLst>
              <p:ext uri="{D42A27DB-BD31-4B8C-83A1-F6EECF244321}">
                <p14:modId xmlns:p14="http://schemas.microsoft.com/office/powerpoint/2010/main" val="3293662417"/>
              </p:ext>
            </p:extLst>
          </p:nvPr>
        </p:nvGraphicFramePr>
        <p:xfrm>
          <a:off x="853440" y="1417320"/>
          <a:ext cx="12891604" cy="6493997"/>
        </p:xfrm>
        <a:graphic>
          <a:graphicData uri="http://schemas.openxmlformats.org/drawingml/2006/table">
            <a:tbl>
              <a:tblPr bandRow="1">
                <a:tableStyleId>{5C22544A-7EE6-4342-B048-85BDC9FD1C3A}</a:tableStyleId>
              </a:tblPr>
              <a:tblGrid>
                <a:gridCol w="1057191">
                  <a:extLst>
                    <a:ext uri="{9D8B030D-6E8A-4147-A177-3AD203B41FA5}">
                      <a16:colId xmlns:a16="http://schemas.microsoft.com/office/drawing/2014/main" val="334175625"/>
                    </a:ext>
                  </a:extLst>
                </a:gridCol>
                <a:gridCol w="2069396">
                  <a:extLst>
                    <a:ext uri="{9D8B030D-6E8A-4147-A177-3AD203B41FA5}">
                      <a16:colId xmlns:a16="http://schemas.microsoft.com/office/drawing/2014/main" val="597241402"/>
                    </a:ext>
                  </a:extLst>
                </a:gridCol>
                <a:gridCol w="1529550">
                  <a:extLst>
                    <a:ext uri="{9D8B030D-6E8A-4147-A177-3AD203B41FA5}">
                      <a16:colId xmlns:a16="http://schemas.microsoft.com/office/drawing/2014/main" val="4087458181"/>
                    </a:ext>
                  </a:extLst>
                </a:gridCol>
                <a:gridCol w="2013962">
                  <a:extLst>
                    <a:ext uri="{9D8B030D-6E8A-4147-A177-3AD203B41FA5}">
                      <a16:colId xmlns:a16="http://schemas.microsoft.com/office/drawing/2014/main" val="4170669995"/>
                    </a:ext>
                  </a:extLst>
                </a:gridCol>
                <a:gridCol w="1101300">
                  <a:extLst>
                    <a:ext uri="{9D8B030D-6E8A-4147-A177-3AD203B41FA5}">
                      <a16:colId xmlns:a16="http://schemas.microsoft.com/office/drawing/2014/main" val="3817420957"/>
                    </a:ext>
                  </a:extLst>
                </a:gridCol>
                <a:gridCol w="750814">
                  <a:extLst>
                    <a:ext uri="{9D8B030D-6E8A-4147-A177-3AD203B41FA5}">
                      <a16:colId xmlns:a16="http://schemas.microsoft.com/office/drawing/2014/main" val="1980334277"/>
                    </a:ext>
                  </a:extLst>
                </a:gridCol>
                <a:gridCol w="674772">
                  <a:extLst>
                    <a:ext uri="{9D8B030D-6E8A-4147-A177-3AD203B41FA5}">
                      <a16:colId xmlns:a16="http://schemas.microsoft.com/office/drawing/2014/main" val="875465323"/>
                    </a:ext>
                  </a:extLst>
                </a:gridCol>
                <a:gridCol w="1164071">
                  <a:extLst>
                    <a:ext uri="{9D8B030D-6E8A-4147-A177-3AD203B41FA5}">
                      <a16:colId xmlns:a16="http://schemas.microsoft.com/office/drawing/2014/main" val="858099332"/>
                    </a:ext>
                  </a:extLst>
                </a:gridCol>
                <a:gridCol w="1507057">
                  <a:extLst>
                    <a:ext uri="{9D8B030D-6E8A-4147-A177-3AD203B41FA5}">
                      <a16:colId xmlns:a16="http://schemas.microsoft.com/office/drawing/2014/main" val="676357792"/>
                    </a:ext>
                  </a:extLst>
                </a:gridCol>
                <a:gridCol w="1023491">
                  <a:extLst>
                    <a:ext uri="{9D8B030D-6E8A-4147-A177-3AD203B41FA5}">
                      <a16:colId xmlns:a16="http://schemas.microsoft.com/office/drawing/2014/main" val="1549316187"/>
                    </a:ext>
                  </a:extLst>
                </a:gridCol>
              </a:tblGrid>
              <a:tr h="899932">
                <a:tc>
                  <a:txBody>
                    <a:bodyPr/>
                    <a:lstStyle/>
                    <a:p>
                      <a:pPr>
                        <a:buNone/>
                      </a:pPr>
                      <a:r>
                        <a:rPr lang="en-US">
                          <a:effectLst/>
                        </a:rPr>
                        <a:t>Automation 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Problem Statement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Proposed 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Benefit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Effort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Impact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Data Repository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Dependency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a:effectLst/>
                        </a:rPr>
                        <a:t>Self‑Service/Analytics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855373661"/>
                  </a:ext>
                </a:extLst>
              </a:tr>
              <a:tr h="5579597">
                <a:tc>
                  <a:txBody>
                    <a:bodyPr/>
                    <a:lstStyle/>
                    <a:p>
                      <a:pPr>
                        <a:buNone/>
                      </a:pPr>
                      <a:r>
                        <a:rPr lang="en-US" b="1" dirty="0">
                          <a:effectLst/>
                        </a:rPr>
                        <a:t>UC‑02: Audit Scheduling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buNone/>
                      </a:pPr>
                      <a:r>
                        <a:rPr lang="en-US" dirty="0">
                          <a:effectLst/>
                        </a:rPr>
                        <a:t>Audit scheduling and resourcing is currently manual and time‑consuming, requiring planners to reconcile auditor </a:t>
                      </a:r>
                      <a:r>
                        <a:rPr lang="en-US" b="1" dirty="0">
                          <a:effectLst/>
                        </a:rPr>
                        <a:t>leave availability</a:t>
                      </a:r>
                      <a:r>
                        <a:rPr lang="en-US" dirty="0">
                          <a:effectLst/>
                        </a:rPr>
                        <a:t>, </a:t>
                      </a:r>
                      <a:r>
                        <a:rPr lang="en-US" b="1" dirty="0">
                          <a:effectLst/>
                        </a:rPr>
                        <a:t>skills/certifications</a:t>
                      </a:r>
                      <a:r>
                        <a:rPr lang="en-US" dirty="0">
                          <a:effectLst/>
                        </a:rPr>
                        <a:t>, </a:t>
                      </a:r>
                      <a:r>
                        <a:rPr lang="en-US" b="1" dirty="0">
                          <a:effectLst/>
                        </a:rPr>
                        <a:t>planned audits + team effort split</a:t>
                      </a:r>
                      <a:r>
                        <a:rPr lang="en-US" dirty="0">
                          <a:effectLst/>
                        </a:rPr>
                        <a:t>, </a:t>
                      </a:r>
                      <a:r>
                        <a:rPr lang="en-US" b="1" dirty="0">
                          <a:effectLst/>
                        </a:rPr>
                        <a:t>historical assignments</a:t>
                      </a:r>
                      <a:r>
                        <a:rPr lang="en-US" dirty="0">
                          <a:effectLst/>
                        </a:rPr>
                        <a:t> (repeat domain fit), and </a:t>
                      </a:r>
                      <a:r>
                        <a:rPr lang="en-US" b="1" dirty="0">
                          <a:effectLst/>
                        </a:rPr>
                        <a:t>auditor interests.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effectLst/>
                        </a:rPr>
                        <a:t>Build a scheduling assistant that ingests required dependencies, normalizes auditor roles (SAM/AM/Co‑Source) and then produces recommended staffing per audit.</a:t>
                      </a:r>
                      <a:endParaRPr lang="en-US" i="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effectLst/>
                        </a:rPr>
                        <a:t>Faster and more consistent scheduling, better skill‑to‑audit alignment, reduced conflicts with planned leave, improved continuity for repeated audits, and improved fairness/transparency by explicitly balancing interests and prior domain </a:t>
                      </a:r>
                      <a:r>
                        <a:rPr lang="en-US">
                          <a:effectLst/>
                        </a:rPr>
                        <a:t>exposure. </a:t>
                      </a:r>
                      <a:endParaRPr lang="en-US" i="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effectLst/>
                        </a:rPr>
                        <a:t>Resourcing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effectLst/>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effectLst/>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effectLst/>
                        </a:rPr>
                        <a:t>leave_tracker.xlsx; skills.xlsx; planned_audits.xlsx; planned_assignments.xlsx; interests.xlsx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sz="1800" b="1" i="0" u="none" strike="noStrike" noProof="0" dirty="0">
                          <a:solidFill>
                            <a:srgbClr val="000000"/>
                          </a:solidFill>
                          <a:effectLst/>
                          <a:latin typeface="Calibri"/>
                          <a:ea typeface="Calibri"/>
                          <a:cs typeface="Calibri"/>
                        </a:rPr>
                        <a:t>leave_tracker.xlsx</a:t>
                      </a:r>
                      <a:r>
                        <a:rPr lang="en-US" sz="1800" b="0" i="0" u="none" strike="noStrike" noProof="0" dirty="0">
                          <a:solidFill>
                            <a:srgbClr val="000000"/>
                          </a:solidFill>
                          <a:effectLst/>
                          <a:latin typeface="Calibri"/>
                          <a:ea typeface="Calibri"/>
                          <a:cs typeface="Calibri"/>
                        </a:rPr>
                        <a:t>, </a:t>
                      </a:r>
                      <a:r>
                        <a:rPr lang="en-US" sz="1800" b="1" i="0" u="none" strike="noStrike" noProof="0" dirty="0">
                          <a:solidFill>
                            <a:srgbClr val="000000"/>
                          </a:solidFill>
                          <a:effectLst/>
                          <a:latin typeface="Calibri"/>
                          <a:ea typeface="Calibri"/>
                          <a:cs typeface="Calibri"/>
                        </a:rPr>
                        <a:t>skills.xlsx</a:t>
                      </a:r>
                      <a:r>
                        <a:rPr lang="en-US" sz="1800" b="0" i="0" u="none" strike="noStrike" noProof="0" dirty="0">
                          <a:solidFill>
                            <a:srgbClr val="000000"/>
                          </a:solidFill>
                          <a:effectLst/>
                          <a:latin typeface="Calibri"/>
                          <a:ea typeface="Calibri"/>
                          <a:cs typeface="Calibri"/>
                        </a:rPr>
                        <a:t>, </a:t>
                      </a:r>
                      <a:r>
                        <a:rPr lang="en-US" sz="1800" b="1" i="0" u="none" strike="noStrike" noProof="0" dirty="0">
                          <a:solidFill>
                            <a:srgbClr val="000000"/>
                          </a:solidFill>
                          <a:effectLst/>
                          <a:latin typeface="Calibri"/>
                          <a:ea typeface="Calibri"/>
                          <a:cs typeface="Calibri"/>
                        </a:rPr>
                        <a:t>planned_audits.xlsx</a:t>
                      </a:r>
                      <a:r>
                        <a:rPr lang="en-US" sz="1800" b="0" i="0" u="none" strike="noStrike" noProof="0" dirty="0">
                          <a:solidFill>
                            <a:srgbClr val="000000"/>
                          </a:solidFill>
                          <a:effectLst/>
                          <a:latin typeface="Calibri"/>
                          <a:ea typeface="Calibri"/>
                          <a:cs typeface="Calibri"/>
                        </a:rPr>
                        <a:t>, </a:t>
                      </a:r>
                      <a:r>
                        <a:rPr lang="en-US" sz="1800" b="1" i="0" u="none" strike="noStrike" noProof="0" dirty="0">
                          <a:solidFill>
                            <a:srgbClr val="000000"/>
                          </a:solidFill>
                          <a:effectLst/>
                          <a:latin typeface="Calibri"/>
                          <a:ea typeface="Calibri"/>
                          <a:cs typeface="Calibri"/>
                        </a:rPr>
                        <a:t>planned_assignments.xlsx</a:t>
                      </a:r>
                      <a:r>
                        <a:rPr lang="en-US" sz="1800" b="0" i="0" u="none" strike="noStrike" noProof="0" dirty="0">
                          <a:solidFill>
                            <a:srgbClr val="000000"/>
                          </a:solidFill>
                          <a:effectLst/>
                          <a:latin typeface="Calibri"/>
                          <a:ea typeface="Calibri"/>
                          <a:cs typeface="Calibri"/>
                        </a:rPr>
                        <a:t>, </a:t>
                      </a:r>
                      <a:r>
                        <a:rPr lang="en-US" sz="1800" b="1" i="0" u="none" strike="noStrike" noProof="0">
                          <a:solidFill>
                            <a:srgbClr val="000000"/>
                          </a:solidFill>
                          <a:effectLst/>
                          <a:latin typeface="Calibri"/>
                          <a:ea typeface="Calibri"/>
                          <a:cs typeface="Calibri"/>
                        </a:rPr>
                        <a:t>interests.xlsx</a:t>
                      </a:r>
                      <a:endParaRPr lang="en-US" sz="1800" b="0" i="0" u="none" strike="noStrike" noProof="0" dirty="0">
                        <a:solidFill>
                          <a:srgbClr val="000000"/>
                        </a:solidFill>
                        <a:effectLst/>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effectLst/>
                        </a:rPr>
                        <a:t>Self‑Service Dashboard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294282"/>
                  </a:ext>
                </a:extLst>
              </a:tr>
            </a:tbl>
          </a:graphicData>
        </a:graphic>
      </p:graphicFrame>
    </p:spTree>
    <p:extLst>
      <p:ext uri="{BB962C8B-B14F-4D97-AF65-F5344CB8AC3E}">
        <p14:creationId xmlns:p14="http://schemas.microsoft.com/office/powerpoint/2010/main" val="3571821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BA0EC-D3C6-946D-7D4C-37E31B3EA6E1}"/>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B73A689-153B-4250-6F28-5069AE7FEECF}"/>
              </a:ext>
            </a:extLst>
          </p:cNvPr>
          <p:cNvSpPr/>
          <p:nvPr/>
        </p:nvSpPr>
        <p:spPr>
          <a:xfrm>
            <a:off x="3320934" y="3778568"/>
            <a:ext cx="7987145" cy="665798"/>
          </a:xfrm>
          <a:prstGeom prst="rect">
            <a:avLst/>
          </a:prstGeom>
          <a:noFill/>
          <a:ln/>
        </p:spPr>
        <p:txBody>
          <a:bodyPr wrap="none" lIns="0" tIns="0" rIns="0" bIns="0" rtlCol="0" anchor="t"/>
          <a:lstStyle/>
          <a:p>
            <a:r>
              <a:rPr lang="en-US" sz="4000">
                <a:solidFill>
                  <a:srgbClr val="161613"/>
                </a:solidFill>
                <a:latin typeface="Arial Black"/>
                <a:ea typeface="DM Sans Medium" pitchFamily="34" charset="-122"/>
                <a:cs typeface="Arial"/>
              </a:rPr>
              <a:t>2026 Finalized Use Cases</a:t>
            </a:r>
            <a:endParaRPr lang="en-US" sz="4000">
              <a:solidFill>
                <a:srgbClr val="000000"/>
              </a:solidFill>
              <a:latin typeface="Arial Black"/>
              <a:ea typeface="DM Sans Medium" pitchFamily="34" charset="-122"/>
              <a:cs typeface="Arial"/>
            </a:endParaRPr>
          </a:p>
          <a:p>
            <a:pPr marL="0" indent="0" algn="l">
              <a:lnSpc>
                <a:spcPts val="4850"/>
              </a:lnSpc>
              <a:buNone/>
            </a:pPr>
            <a:endParaRPr lang="en-US" sz="4000">
              <a:solidFill>
                <a:srgbClr val="161613"/>
              </a:solidFill>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1472111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3E95A-1380-38F6-5600-909321B74B3F}"/>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6F2FCADB-39AF-8AA2-F242-F7F431B62829}"/>
              </a:ext>
            </a:extLst>
          </p:cNvPr>
          <p:cNvSpPr>
            <a:spLocks noChangeArrowheads="1"/>
          </p:cNvSpPr>
          <p:nvPr/>
        </p:nvSpPr>
        <p:spPr bwMode="auto">
          <a:xfrm rot="10800000" flipV="1">
            <a:off x="2307927" y="3418060"/>
            <a:ext cx="1028130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2" name="Text 0">
            <a:extLst>
              <a:ext uri="{FF2B5EF4-FFF2-40B4-BE49-F238E27FC236}">
                <a16:creationId xmlns:a16="http://schemas.microsoft.com/office/drawing/2014/main" id="{5A6B56D8-D0A6-210E-A4A8-427A50B45C0E}"/>
              </a:ext>
            </a:extLst>
          </p:cNvPr>
          <p:cNvSpPr/>
          <p:nvPr/>
        </p:nvSpPr>
        <p:spPr>
          <a:xfrm>
            <a:off x="623454" y="578168"/>
            <a:ext cx="12513425" cy="620078"/>
          </a:xfrm>
          <a:prstGeom prst="rect">
            <a:avLst/>
          </a:prstGeom>
          <a:noFill/>
          <a:ln/>
        </p:spPr>
        <p:txBody>
          <a:bodyPr wrap="none" lIns="0" tIns="0" rIns="0" bIns="0" rtlCol="0" anchor="t"/>
          <a:lstStyle/>
          <a:p>
            <a:pPr marL="0" indent="0" algn="l">
              <a:lnSpc>
                <a:spcPts val="4850"/>
              </a:lnSpc>
              <a:buNone/>
            </a:pPr>
            <a:r>
              <a:rPr lang="en-US" sz="4000" dirty="0">
                <a:solidFill>
                  <a:srgbClr val="161613"/>
                </a:solidFill>
                <a:latin typeface="Arial Black"/>
                <a:ea typeface="DM Sans Medium" pitchFamily="34" charset="-122"/>
                <a:cs typeface="Arial"/>
              </a:rPr>
              <a:t>2026 ICS Domain DA Use Cases - </a:t>
            </a:r>
            <a:r>
              <a:rPr lang="en-US" sz="4000">
                <a:solidFill>
                  <a:srgbClr val="161613"/>
                </a:solidFill>
                <a:latin typeface="Arial Black"/>
                <a:ea typeface="DM Sans Medium" pitchFamily="34" charset="-122"/>
                <a:cs typeface="Arial"/>
              </a:rPr>
              <a:t>Finalized</a:t>
            </a:r>
            <a:endParaRPr lang="en-US" sz="4000" dirty="0" err="1">
              <a:latin typeface="Arial Black" panose="020B0A040201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CABB744C-0853-BCF1-E3CA-489597F4F0A3}"/>
              </a:ext>
            </a:extLst>
          </p:cNvPr>
          <p:cNvGraphicFramePr>
            <a:graphicFrameLocks noGrp="1"/>
          </p:cNvGraphicFramePr>
          <p:nvPr>
            <p:extLst>
              <p:ext uri="{D42A27DB-BD31-4B8C-83A1-F6EECF244321}">
                <p14:modId xmlns:p14="http://schemas.microsoft.com/office/powerpoint/2010/main" val="3624539430"/>
              </p:ext>
            </p:extLst>
          </p:nvPr>
        </p:nvGraphicFramePr>
        <p:xfrm>
          <a:off x="623453" y="1885996"/>
          <a:ext cx="6260282" cy="5406149"/>
        </p:xfrm>
        <a:graphic>
          <a:graphicData uri="http://schemas.openxmlformats.org/drawingml/2006/table">
            <a:tbl>
              <a:tblPr>
                <a:tableStyleId>{5940675A-B579-460E-94D1-54222C63F5DA}</a:tableStyleId>
              </a:tblPr>
              <a:tblGrid>
                <a:gridCol w="1536100">
                  <a:extLst>
                    <a:ext uri="{9D8B030D-6E8A-4147-A177-3AD203B41FA5}">
                      <a16:colId xmlns:a16="http://schemas.microsoft.com/office/drawing/2014/main" val="1763076824"/>
                    </a:ext>
                  </a:extLst>
                </a:gridCol>
                <a:gridCol w="1536100">
                  <a:extLst>
                    <a:ext uri="{9D8B030D-6E8A-4147-A177-3AD203B41FA5}">
                      <a16:colId xmlns:a16="http://schemas.microsoft.com/office/drawing/2014/main" val="3889747047"/>
                    </a:ext>
                  </a:extLst>
                </a:gridCol>
                <a:gridCol w="1412450">
                  <a:extLst>
                    <a:ext uri="{9D8B030D-6E8A-4147-A177-3AD203B41FA5}">
                      <a16:colId xmlns:a16="http://schemas.microsoft.com/office/drawing/2014/main" val="3107663189"/>
                    </a:ext>
                  </a:extLst>
                </a:gridCol>
                <a:gridCol w="833999">
                  <a:extLst>
                    <a:ext uri="{9D8B030D-6E8A-4147-A177-3AD203B41FA5}">
                      <a16:colId xmlns:a16="http://schemas.microsoft.com/office/drawing/2014/main" val="2795395917"/>
                    </a:ext>
                  </a:extLst>
                </a:gridCol>
                <a:gridCol w="941633">
                  <a:extLst>
                    <a:ext uri="{9D8B030D-6E8A-4147-A177-3AD203B41FA5}">
                      <a16:colId xmlns:a16="http://schemas.microsoft.com/office/drawing/2014/main" val="3952391618"/>
                    </a:ext>
                  </a:extLst>
                </a:gridCol>
              </a:tblGrid>
              <a:tr h="1842314">
                <a:tc>
                  <a:txBody>
                    <a:bodyPr/>
                    <a:lstStyle/>
                    <a:p>
                      <a:pPr>
                        <a:buNone/>
                      </a:pPr>
                      <a:r>
                        <a:rPr lang="en-US" sz="1400" b="1" dirty="0">
                          <a:effectLst/>
                          <a:latin typeface="Arial"/>
                          <a:cs typeface="Arial"/>
                        </a:rPr>
                        <a:t>Use Case Name</a:t>
                      </a:r>
                      <a:endParaRPr lang="en-GB" sz="1400" b="1" dirty="0">
                        <a:effectLst/>
                        <a:latin typeface="Arial"/>
                        <a:cs typeface="Arial"/>
                      </a:endParaRPr>
                    </a:p>
                  </a:txBody>
                  <a:tcPr anchor="ctr"/>
                </a:tc>
                <a:tc>
                  <a:txBody>
                    <a:bodyPr/>
                    <a:lstStyle/>
                    <a:p>
                      <a:pPr>
                        <a:buNone/>
                      </a:pPr>
                      <a:r>
                        <a:rPr lang="en-GB" sz="1400" b="1" dirty="0">
                          <a:effectLst/>
                          <a:latin typeface="Arial"/>
                          <a:cs typeface="Arial"/>
                        </a:rPr>
                        <a:t>Problem Statement</a:t>
                      </a:r>
                      <a:endParaRPr lang="en-GB" sz="1400" dirty="0">
                        <a:effectLst/>
                        <a:latin typeface="Arial"/>
                        <a:cs typeface="Arial"/>
                      </a:endParaRPr>
                    </a:p>
                  </a:txBody>
                  <a:tcPr anchor="ctr"/>
                </a:tc>
                <a:tc>
                  <a:txBody>
                    <a:bodyPr/>
                    <a:lstStyle/>
                    <a:p>
                      <a:pPr>
                        <a:buNone/>
                      </a:pPr>
                      <a:r>
                        <a:rPr lang="en-GB" sz="1400" b="1" dirty="0">
                          <a:effectLst/>
                          <a:latin typeface="Arial"/>
                          <a:cs typeface="Arial"/>
                        </a:rPr>
                        <a:t>Data Repository</a:t>
                      </a:r>
                      <a:endParaRPr lang="en-GB" sz="1400" dirty="0">
                        <a:effectLst/>
                        <a:latin typeface="Arial"/>
                        <a:cs typeface="Arial"/>
                      </a:endParaRPr>
                    </a:p>
                  </a:txBody>
                  <a:tcPr anchor="ctr"/>
                </a:tc>
                <a:tc>
                  <a:txBody>
                    <a:bodyPr/>
                    <a:lstStyle/>
                    <a:p>
                      <a:pPr lvl="0">
                        <a:buNone/>
                      </a:pPr>
                      <a:r>
                        <a:rPr lang="en-GB" sz="1400" b="1" dirty="0">
                          <a:effectLst/>
                          <a:latin typeface="Arial"/>
                          <a:cs typeface="Arial"/>
                        </a:rPr>
                        <a:t>Self-Service / Analytics</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1">
                          <a:effectLst/>
                          <a:highlight>
                            <a:srgbClr val="FFFF00"/>
                          </a:highlight>
                          <a:latin typeface="Arial"/>
                          <a:cs typeface="Arial"/>
                        </a:rPr>
                        <a:t>Use Case Owner</a:t>
                      </a:r>
                      <a:endParaRPr lang="en-GB" sz="1400" b="1" dirty="0">
                        <a:effectLst/>
                        <a:highlight>
                          <a:srgbClr val="FFFF00"/>
                        </a:highlight>
                        <a:latin typeface="Arial"/>
                        <a:cs typeface="Arial"/>
                      </a:endParaRPr>
                    </a:p>
                  </a:txBody>
                  <a:tcPr anchor="ctr"/>
                </a:tc>
                <a:extLst>
                  <a:ext uri="{0D108BD9-81ED-4DB2-BD59-A6C34878D82A}">
                    <a16:rowId xmlns:a16="http://schemas.microsoft.com/office/drawing/2014/main" val="3879083366"/>
                  </a:ext>
                </a:extLst>
              </a:tr>
              <a:tr h="3563835">
                <a:tc>
                  <a:txBody>
                    <a:bodyPr/>
                    <a:lstStyle/>
                    <a:p>
                      <a:pPr>
                        <a:buNone/>
                      </a:pPr>
                      <a:r>
                        <a:rPr lang="en-US" sz="1400" dirty="0">
                          <a:solidFill>
                            <a:srgbClr val="00B050"/>
                          </a:solidFill>
                          <a:effectLst/>
                          <a:latin typeface="Arial"/>
                          <a:cs typeface="Arial"/>
                        </a:rPr>
                        <a:t>Vulnerability Dashboard</a:t>
                      </a:r>
                    </a:p>
                  </a:txBody>
                  <a:tcPr anchor="ctr"/>
                </a:tc>
                <a:tc>
                  <a:txBody>
                    <a:bodyPr/>
                    <a:lstStyle/>
                    <a:p>
                      <a:pPr>
                        <a:buNone/>
                      </a:pPr>
                      <a:r>
                        <a:rPr lang="en-US" sz="1400" dirty="0">
                          <a:solidFill>
                            <a:srgbClr val="00B050"/>
                          </a:solidFill>
                          <a:effectLst/>
                          <a:latin typeface="Arial"/>
                          <a:cs typeface="Arial"/>
                        </a:rPr>
                        <a:t>Vulnerability data extraction for audits is manual and stakeholder‑dependent, leading to delays and inconsistent access across audit teams.</a:t>
                      </a:r>
                    </a:p>
                  </a:txBody>
                  <a:tcPr anchor="ctr"/>
                </a:tc>
                <a:tc>
                  <a:txBody>
                    <a:bodyPr/>
                    <a:lstStyle/>
                    <a:p>
                      <a:pPr>
                        <a:buNone/>
                      </a:pPr>
                      <a:r>
                        <a:rPr lang="en-GB" sz="1400" dirty="0">
                          <a:effectLst/>
                          <a:latin typeface="Arial"/>
                          <a:cs typeface="Arial"/>
                        </a:rPr>
                        <a:t>Service Bench</a:t>
                      </a:r>
                    </a:p>
                  </a:txBody>
                  <a:tcPr anchor="ctr"/>
                </a:tc>
                <a:tc>
                  <a:txBody>
                    <a:bodyPr/>
                    <a:lstStyle/>
                    <a:p>
                      <a:pPr lvl="0">
                        <a:buNone/>
                      </a:pPr>
                      <a:r>
                        <a:rPr lang="en-GB" sz="1400" dirty="0">
                          <a:effectLst/>
                          <a:latin typeface="Arial"/>
                          <a:cs typeface="Arial"/>
                        </a:rPr>
                        <a:t>Self-Service Dashboard</a:t>
                      </a:r>
                    </a:p>
                  </a:txBody>
                  <a:tcPr anchor="ctr"/>
                </a:tc>
                <a:tc>
                  <a:txBody>
                    <a:bodyPr/>
                    <a:lstStyle/>
                    <a:p>
                      <a:pPr>
                        <a:buNone/>
                      </a:pPr>
                      <a:r>
                        <a:rPr lang="en-US" sz="1400" dirty="0">
                          <a:effectLst/>
                          <a:latin typeface="Arial"/>
                          <a:cs typeface="Arial"/>
                        </a:rPr>
                        <a:t>Indraneel</a:t>
                      </a:r>
                      <a:endParaRPr lang="en-GB" sz="1400" dirty="0">
                        <a:effectLst/>
                        <a:latin typeface="Arial"/>
                        <a:cs typeface="Arial"/>
                      </a:endParaRPr>
                    </a:p>
                  </a:txBody>
                  <a:tcPr anchor="ctr"/>
                </a:tc>
                <a:extLst>
                  <a:ext uri="{0D108BD9-81ED-4DB2-BD59-A6C34878D82A}">
                    <a16:rowId xmlns:a16="http://schemas.microsoft.com/office/drawing/2014/main" val="1046324532"/>
                  </a:ext>
                </a:extLst>
              </a:tr>
            </a:tbl>
          </a:graphicData>
        </a:graphic>
      </p:graphicFrame>
      <p:graphicFrame>
        <p:nvGraphicFramePr>
          <p:cNvPr id="7" name="Table 6">
            <a:extLst>
              <a:ext uri="{FF2B5EF4-FFF2-40B4-BE49-F238E27FC236}">
                <a16:creationId xmlns:a16="http://schemas.microsoft.com/office/drawing/2014/main" id="{D2DBBA84-8B68-D610-2000-0A5292C6D447}"/>
              </a:ext>
            </a:extLst>
          </p:cNvPr>
          <p:cNvGraphicFramePr>
            <a:graphicFrameLocks noGrp="1"/>
          </p:cNvGraphicFramePr>
          <p:nvPr>
            <p:extLst>
              <p:ext uri="{D42A27DB-BD31-4B8C-83A1-F6EECF244321}">
                <p14:modId xmlns:p14="http://schemas.microsoft.com/office/powerpoint/2010/main" val="3325060432"/>
              </p:ext>
            </p:extLst>
          </p:nvPr>
        </p:nvGraphicFramePr>
        <p:xfrm>
          <a:off x="7163738" y="1885996"/>
          <a:ext cx="6611242" cy="5400598"/>
        </p:xfrm>
        <a:graphic>
          <a:graphicData uri="http://schemas.openxmlformats.org/drawingml/2006/table">
            <a:tbl>
              <a:tblPr>
                <a:tableStyleId>{5940675A-B579-460E-94D1-54222C63F5DA}</a:tableStyleId>
              </a:tblPr>
              <a:tblGrid>
                <a:gridCol w="2821759">
                  <a:extLst>
                    <a:ext uri="{9D8B030D-6E8A-4147-A177-3AD203B41FA5}">
                      <a16:colId xmlns:a16="http://schemas.microsoft.com/office/drawing/2014/main" val="3889747047"/>
                    </a:ext>
                  </a:extLst>
                </a:gridCol>
                <a:gridCol w="1866810">
                  <a:extLst>
                    <a:ext uri="{9D8B030D-6E8A-4147-A177-3AD203B41FA5}">
                      <a16:colId xmlns:a16="http://schemas.microsoft.com/office/drawing/2014/main" val="3107663189"/>
                    </a:ext>
                  </a:extLst>
                </a:gridCol>
                <a:gridCol w="1922673">
                  <a:extLst>
                    <a:ext uri="{9D8B030D-6E8A-4147-A177-3AD203B41FA5}">
                      <a16:colId xmlns:a16="http://schemas.microsoft.com/office/drawing/2014/main" val="2795395917"/>
                    </a:ext>
                  </a:extLst>
                </a:gridCol>
              </a:tblGrid>
              <a:tr h="546364">
                <a:tc rowSpan="2">
                  <a:txBody>
                    <a:bodyPr/>
                    <a:lstStyle/>
                    <a:p>
                      <a:pPr>
                        <a:buNone/>
                      </a:pPr>
                      <a:r>
                        <a:rPr lang="en-GB" sz="1400" b="1">
                          <a:effectLst/>
                          <a:latin typeface="Arial"/>
                          <a:cs typeface="Arial"/>
                        </a:rPr>
                        <a:t>Use Case Name</a:t>
                      </a:r>
                      <a:endParaRPr lang="en-GB" sz="1400" b="1" dirty="0">
                        <a:effectLst/>
                        <a:latin typeface="Arial"/>
                        <a:cs typeface="Arial"/>
                      </a:endParaRPr>
                    </a:p>
                  </a:txBody>
                  <a:tcPr anchor="ctr"/>
                </a:tc>
                <a:tc gridSpan="2">
                  <a:txBody>
                    <a:bodyPr/>
                    <a:lstStyle/>
                    <a:p>
                      <a:pPr algn="ctr">
                        <a:buNone/>
                      </a:pPr>
                      <a:r>
                        <a:rPr lang="en-US" sz="1600" b="1" dirty="0">
                          <a:solidFill>
                            <a:schemeClr val="tx1"/>
                          </a:solidFill>
                          <a:effectLst/>
                          <a:latin typeface="Arial"/>
                          <a:cs typeface="Arial"/>
                        </a:rPr>
                        <a:t>Vulnerability Dashboard</a:t>
                      </a:r>
                    </a:p>
                  </a:txBody>
                  <a:tcPr anchor="ctr"/>
                </a:tc>
                <a:tc hMerge="1">
                  <a:txBody>
                    <a:bodyPr/>
                    <a:lstStyle/>
                    <a:p>
                      <a:pPr>
                        <a:buNone/>
                      </a:pPr>
                      <a:endParaRPr lang="en-GB" sz="1400" b="1" dirty="0">
                        <a:effectLst/>
                        <a:latin typeface="Arial"/>
                        <a:cs typeface="Arial"/>
                      </a:endParaRPr>
                    </a:p>
                  </a:txBody>
                  <a:tcPr anchor="ctr"/>
                </a:tc>
                <a:extLst>
                  <a:ext uri="{0D108BD9-81ED-4DB2-BD59-A6C34878D82A}">
                    <a16:rowId xmlns:a16="http://schemas.microsoft.com/office/drawing/2014/main" val="3879083366"/>
                  </a:ext>
                </a:extLst>
              </a:tr>
              <a:tr h="546364">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effectLst/>
                          <a:latin typeface="Arial"/>
                          <a:cs typeface="Arial"/>
                        </a:rPr>
                        <a:t>Due Date</a:t>
                      </a:r>
                      <a:endParaRPr lang="en-GB" sz="1400" dirty="0">
                        <a:effectLst/>
                        <a:latin typeface="Arial"/>
                        <a:cs typeface="Arial"/>
                      </a:endParaRPr>
                    </a:p>
                  </a:txBody>
                  <a:tcPr anchor="ctr"/>
                </a:tc>
                <a:tc>
                  <a:txBody>
                    <a:bodyPr/>
                    <a:lstStyle/>
                    <a:p>
                      <a:pPr>
                        <a:buNone/>
                      </a:pPr>
                      <a:r>
                        <a:rPr lang="en-US" sz="1400" b="1" dirty="0">
                          <a:effectLst/>
                          <a:latin typeface="Arial"/>
                          <a:cs typeface="Arial"/>
                        </a:rPr>
                        <a:t>Status</a:t>
                      </a:r>
                      <a:endParaRPr lang="en-GB" sz="1400" b="1" dirty="0">
                        <a:effectLst/>
                        <a:latin typeface="Arial"/>
                        <a:cs typeface="Arial"/>
                      </a:endParaRPr>
                    </a:p>
                  </a:txBody>
                  <a:tcPr anchor="ctr"/>
                </a:tc>
                <a:extLst>
                  <a:ext uri="{0D108BD9-81ED-4DB2-BD59-A6C34878D82A}">
                    <a16:rowId xmlns:a16="http://schemas.microsoft.com/office/drawing/2014/main" val="3202892240"/>
                  </a:ext>
                </a:extLst>
              </a:tr>
              <a:tr h="819546">
                <a:tc>
                  <a:txBody>
                    <a:bodyPr/>
                    <a:lstStyle/>
                    <a:p>
                      <a:pPr>
                        <a:buNone/>
                      </a:pPr>
                      <a:r>
                        <a:rPr lang="en-US" sz="1400" b="1" dirty="0">
                          <a:effectLst/>
                          <a:latin typeface="Arial"/>
                          <a:cs typeface="Arial"/>
                        </a:rPr>
                        <a:t>Stakeholder Engagement</a:t>
                      </a:r>
                      <a:endParaRPr lang="en-GB" sz="1400" b="1" dirty="0">
                        <a:effectLst/>
                        <a:latin typeface="Arial"/>
                        <a:cs typeface="Arial"/>
                      </a:endParaRPr>
                    </a:p>
                  </a:txBody>
                  <a:tcPr anchor="ctr"/>
                </a:tc>
                <a:tc>
                  <a:txBody>
                    <a:bodyPr/>
                    <a:lstStyle/>
                    <a:p>
                      <a:pPr>
                        <a:buNone/>
                      </a:pPr>
                      <a:r>
                        <a:rPr lang="en-US" sz="1400" dirty="0">
                          <a:effectLst/>
                          <a:latin typeface="Arial"/>
                          <a:cs typeface="Arial"/>
                        </a:rPr>
                        <a:t>29</a:t>
                      </a:r>
                      <a:r>
                        <a:rPr lang="en-US" sz="1400" baseline="30000" dirty="0">
                          <a:effectLst/>
                          <a:latin typeface="Arial"/>
                          <a:cs typeface="Arial"/>
                        </a:rPr>
                        <a:t>th</a:t>
                      </a:r>
                      <a:r>
                        <a:rPr lang="en-US" sz="1400" dirty="0">
                          <a:effectLst/>
                          <a:latin typeface="Arial"/>
                          <a:cs typeface="Arial"/>
                        </a:rPr>
                        <a:t>  May 2026</a:t>
                      </a:r>
                      <a:endParaRPr lang="en-GB" sz="1400" dirty="0">
                        <a:effectLst/>
                        <a:latin typeface="Arial"/>
                        <a:cs typeface="Arial"/>
                      </a:endParaRPr>
                    </a:p>
                  </a:txBody>
                  <a:tcPr anchor="ctr"/>
                </a:tc>
                <a:tc>
                  <a:txBody>
                    <a:bodyPr/>
                    <a:lstStyle/>
                    <a:p>
                      <a:pPr lvl="0">
                        <a:buNone/>
                      </a:pPr>
                      <a:r>
                        <a:rPr lang="en-US" sz="1400" dirty="0">
                          <a:effectLst/>
                          <a:latin typeface="Arial"/>
                          <a:cs typeface="Arial"/>
                        </a:rPr>
                        <a:t>WIP</a:t>
                      </a:r>
                      <a:endParaRPr lang="en-GB" sz="1400" dirty="0">
                        <a:effectLst/>
                        <a:latin typeface="Arial"/>
                        <a:cs typeface="Arial"/>
                      </a:endParaRPr>
                    </a:p>
                  </a:txBody>
                  <a:tcPr anchor="ctr"/>
                </a:tc>
                <a:extLst>
                  <a:ext uri="{0D108BD9-81ED-4DB2-BD59-A6C34878D82A}">
                    <a16:rowId xmlns:a16="http://schemas.microsoft.com/office/drawing/2014/main" val="1046324532"/>
                  </a:ext>
                </a:extLst>
              </a:tr>
              <a:tr h="1008672">
                <a:tc>
                  <a:txBody>
                    <a:bodyPr/>
                    <a:lstStyle/>
                    <a:p>
                      <a:pPr>
                        <a:buNone/>
                      </a:pPr>
                      <a:r>
                        <a:rPr lang="en-US" sz="1400" b="1" dirty="0">
                          <a:effectLst/>
                          <a:latin typeface="Arial"/>
                          <a:cs typeface="Arial"/>
                        </a:rPr>
                        <a:t>Received Raw Data</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12</a:t>
                      </a:r>
                      <a:r>
                        <a:rPr lang="en-US" sz="1400" kern="1200" baseline="30000" dirty="0">
                          <a:solidFill>
                            <a:schemeClr val="tx1"/>
                          </a:solidFill>
                          <a:effectLst/>
                          <a:latin typeface="Arial"/>
                          <a:ea typeface="+mn-ea"/>
                          <a:cs typeface="Arial"/>
                        </a:rPr>
                        <a:t>th</a:t>
                      </a:r>
                      <a:r>
                        <a:rPr lang="en-US" sz="1400" kern="1200" dirty="0">
                          <a:solidFill>
                            <a:schemeClr val="tx1"/>
                          </a:solidFill>
                          <a:effectLst/>
                          <a:latin typeface="Arial"/>
                          <a:ea typeface="+mn-ea"/>
                          <a:cs typeface="Arial"/>
                        </a:rPr>
                        <a:t> June 2026</a:t>
                      </a:r>
                    </a:p>
                  </a:txBody>
                  <a:tcPr anchor="ctr"/>
                </a:tc>
                <a:tc>
                  <a:txBody>
                    <a:bodyPr/>
                    <a:lstStyle/>
                    <a:p>
                      <a:pPr lvl="0">
                        <a:buNone/>
                      </a:pPr>
                      <a:r>
                        <a:rPr lang="en-US" sz="1400" b="0" i="0" u="none" strike="noStrike" baseline="0" noProof="0" dirty="0">
                          <a:solidFill>
                            <a:srgbClr val="000000"/>
                          </a:solidFill>
                          <a:effectLst/>
                          <a:latin typeface="Arial"/>
                          <a:cs typeface="Arial"/>
                        </a:rPr>
                        <a:t>Yet to receive</a:t>
                      </a:r>
                    </a:p>
                  </a:txBody>
                  <a:tcPr anchor="ctr"/>
                </a:tc>
                <a:extLst>
                  <a:ext uri="{0D108BD9-81ED-4DB2-BD59-A6C34878D82A}">
                    <a16:rowId xmlns:a16="http://schemas.microsoft.com/office/drawing/2014/main" val="204290577"/>
                  </a:ext>
                </a:extLst>
              </a:tr>
              <a:tr h="1008672">
                <a:tc>
                  <a:txBody>
                    <a:bodyPr/>
                    <a:lstStyle/>
                    <a:p>
                      <a:pPr lvl="0">
                        <a:buNone/>
                      </a:pPr>
                      <a:r>
                        <a:rPr lang="en-US" sz="1400" b="1">
                          <a:effectLst/>
                          <a:latin typeface="Arial"/>
                          <a:cs typeface="Arial"/>
                        </a:rPr>
                        <a:t>Reach out to DA Team</a:t>
                      </a:r>
                      <a:endParaRPr lang="en-US" sz="1400" b="1" dirty="0">
                        <a:effectLst/>
                        <a:latin typeface="Arial"/>
                        <a:cs typeface="Arial"/>
                      </a:endParaRPr>
                    </a:p>
                  </a:txBody>
                  <a:tcPr anchor="ctr"/>
                </a:tc>
                <a:tc>
                  <a:txBody>
                    <a:bodyPr/>
                    <a:lstStyle/>
                    <a:p>
                      <a:pPr marL="0" lvl="0" indent="0" algn="l">
                        <a:lnSpc>
                          <a:spcPct val="100000"/>
                        </a:lnSpc>
                        <a:buNone/>
                      </a:pPr>
                      <a:r>
                        <a:rPr lang="en-US" sz="1400" kern="1200">
                          <a:solidFill>
                            <a:schemeClr val="tx1"/>
                          </a:solidFill>
                          <a:effectLst/>
                          <a:latin typeface="Arial"/>
                          <a:ea typeface="+mn-ea"/>
                          <a:cs typeface="Arial"/>
                        </a:rPr>
                        <a:t>17th June</a:t>
                      </a:r>
                      <a:endParaRPr lang="en-US" sz="1400" kern="1200" dirty="0">
                        <a:solidFill>
                          <a:schemeClr val="tx1"/>
                        </a:solidFill>
                        <a:effectLst/>
                        <a:latin typeface="Arial"/>
                        <a:ea typeface="+mn-ea"/>
                        <a:cs typeface="Arial"/>
                      </a:endParaRPr>
                    </a:p>
                  </a:txBody>
                  <a:tcPr anchor="ctr"/>
                </a:tc>
                <a:tc>
                  <a:txBody>
                    <a:bodyPr/>
                    <a:lstStyle/>
                    <a:p>
                      <a:pPr lvl="0">
                        <a:buNone/>
                      </a:pPr>
                      <a:r>
                        <a:rPr lang="en-US" sz="1400" b="0" i="0" u="none" strike="noStrike" baseline="0" noProof="0">
                          <a:solidFill>
                            <a:srgbClr val="000000"/>
                          </a:solidFill>
                          <a:effectLst/>
                          <a:latin typeface="Arial"/>
                          <a:cs typeface="Arial"/>
                        </a:rPr>
                        <a:t>Not Started</a:t>
                      </a:r>
                      <a:endParaRPr lang="en-US" sz="1400" b="0" i="0" u="none" strike="noStrike" baseline="0" noProof="0" dirty="0">
                        <a:solidFill>
                          <a:srgbClr val="000000"/>
                        </a:solidFill>
                        <a:effectLst/>
                        <a:latin typeface="Arial"/>
                        <a:cs typeface="Arial"/>
                      </a:endParaRPr>
                    </a:p>
                  </a:txBody>
                  <a:tcPr anchor="ctr"/>
                </a:tc>
                <a:extLst>
                  <a:ext uri="{0D108BD9-81ED-4DB2-BD59-A6C34878D82A}">
                    <a16:rowId xmlns:a16="http://schemas.microsoft.com/office/drawing/2014/main" val="3299430295"/>
                  </a:ext>
                </a:extLst>
              </a:tr>
              <a:tr h="672448">
                <a:tc>
                  <a:txBody>
                    <a:bodyPr/>
                    <a:lstStyle/>
                    <a:p>
                      <a:pPr>
                        <a:buNone/>
                      </a:pPr>
                      <a:r>
                        <a:rPr lang="en-US" sz="1400" b="1" dirty="0">
                          <a:effectLst/>
                          <a:latin typeface="Arial"/>
                          <a:cs typeface="Arial"/>
                        </a:rPr>
                        <a:t>PoC</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26</a:t>
                      </a:r>
                      <a:r>
                        <a:rPr lang="en-US" sz="1400" kern="1200" baseline="30000" dirty="0">
                          <a:solidFill>
                            <a:schemeClr val="tx1"/>
                          </a:solidFill>
                          <a:effectLst/>
                          <a:latin typeface="Arial"/>
                          <a:ea typeface="+mn-ea"/>
                          <a:cs typeface="Arial"/>
                        </a:rPr>
                        <a:t>th</a:t>
                      </a:r>
                      <a:r>
                        <a:rPr lang="en-US" sz="1400" kern="1200" dirty="0">
                          <a:solidFill>
                            <a:schemeClr val="tx1"/>
                          </a:solidFill>
                          <a:effectLst/>
                          <a:latin typeface="Arial"/>
                          <a:ea typeface="+mn-ea"/>
                          <a:cs typeface="Arial"/>
                        </a:rPr>
                        <a:t> June 2026</a:t>
                      </a:r>
                    </a:p>
                  </a:txBody>
                  <a:tcPr anchor="ctr"/>
                </a:tc>
                <a:tc>
                  <a:txBody>
                    <a:bodyPr/>
                    <a:lstStyle/>
                    <a:p>
                      <a:pPr lvl="0">
                        <a:buNone/>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695297088"/>
                  </a:ext>
                </a:extLst>
              </a:tr>
              <a:tr h="7985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effectLst/>
                          <a:latin typeface="Arial"/>
                          <a:cs typeface="Arial"/>
                        </a:rPr>
                        <a:t>Implementation / Go-live</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31</a:t>
                      </a:r>
                      <a:r>
                        <a:rPr lang="en-US" sz="1400" kern="1200" baseline="30000" dirty="0">
                          <a:solidFill>
                            <a:schemeClr val="tx1"/>
                          </a:solidFill>
                          <a:effectLst/>
                          <a:latin typeface="Arial"/>
                          <a:ea typeface="+mn-ea"/>
                          <a:cs typeface="Arial"/>
                        </a:rPr>
                        <a:t>st</a:t>
                      </a:r>
                      <a:r>
                        <a:rPr lang="en-US" sz="1400" kern="1200" dirty="0">
                          <a:solidFill>
                            <a:schemeClr val="tx1"/>
                          </a:solidFill>
                          <a:effectLst/>
                          <a:latin typeface="Arial"/>
                          <a:ea typeface="+mn-ea"/>
                          <a:cs typeface="Arial"/>
                        </a:rPr>
                        <a:t> July 2026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582893317"/>
                  </a:ext>
                </a:extLst>
              </a:tr>
            </a:tbl>
          </a:graphicData>
        </a:graphic>
      </p:graphicFrame>
    </p:spTree>
    <p:extLst>
      <p:ext uri="{BB962C8B-B14F-4D97-AF65-F5344CB8AC3E}">
        <p14:creationId xmlns:p14="http://schemas.microsoft.com/office/powerpoint/2010/main" val="1312542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48BA7-BD1A-103D-3ED5-B9A254DCB5B9}"/>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1F77E090-54AF-6EC1-9103-3F1763C54EB0}"/>
              </a:ext>
            </a:extLst>
          </p:cNvPr>
          <p:cNvSpPr>
            <a:spLocks noChangeArrowheads="1"/>
          </p:cNvSpPr>
          <p:nvPr/>
        </p:nvSpPr>
        <p:spPr bwMode="auto">
          <a:xfrm rot="10800000" flipV="1">
            <a:off x="2307927" y="3418060"/>
            <a:ext cx="1028130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2" name="Text 0">
            <a:extLst>
              <a:ext uri="{FF2B5EF4-FFF2-40B4-BE49-F238E27FC236}">
                <a16:creationId xmlns:a16="http://schemas.microsoft.com/office/drawing/2014/main" id="{E8EDE8A9-1464-29FA-E706-C341CF0053C9}"/>
              </a:ext>
            </a:extLst>
          </p:cNvPr>
          <p:cNvSpPr/>
          <p:nvPr/>
        </p:nvSpPr>
        <p:spPr>
          <a:xfrm>
            <a:off x="623454" y="578168"/>
            <a:ext cx="12513425" cy="620078"/>
          </a:xfrm>
          <a:prstGeom prst="rect">
            <a:avLst/>
          </a:prstGeom>
          <a:noFill/>
          <a:ln/>
        </p:spPr>
        <p:txBody>
          <a:bodyPr wrap="none" lIns="0" tIns="0" rIns="0" bIns="0" rtlCol="0" anchor="t"/>
          <a:lstStyle/>
          <a:p>
            <a:pPr marL="0" indent="0" algn="l">
              <a:lnSpc>
                <a:spcPts val="4850"/>
              </a:lnSpc>
              <a:buNone/>
            </a:pPr>
            <a:r>
              <a:rPr lang="en-US" sz="4000" dirty="0">
                <a:solidFill>
                  <a:srgbClr val="161613"/>
                </a:solidFill>
                <a:latin typeface="Arial Black"/>
                <a:ea typeface="DM Sans Medium" pitchFamily="34" charset="-122"/>
                <a:cs typeface="Arial"/>
              </a:rPr>
              <a:t>2026 ICS Domain DA Use Cases - </a:t>
            </a:r>
            <a:r>
              <a:rPr lang="en-US" sz="4000">
                <a:solidFill>
                  <a:srgbClr val="161613"/>
                </a:solidFill>
                <a:latin typeface="Arial Black"/>
                <a:ea typeface="DM Sans Medium" pitchFamily="34" charset="-122"/>
                <a:cs typeface="Arial"/>
              </a:rPr>
              <a:t>Finalized</a:t>
            </a:r>
            <a:endParaRPr lang="en-US" sz="4000" dirty="0" err="1">
              <a:latin typeface="Arial Black" panose="020B0A040201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A217885A-09C7-20F0-8924-505313B1B1B6}"/>
              </a:ext>
            </a:extLst>
          </p:cNvPr>
          <p:cNvSpPr/>
          <p:nvPr/>
        </p:nvSpPr>
        <p:spPr>
          <a:xfrm>
            <a:off x="12863548" y="293374"/>
            <a:ext cx="1614452" cy="904872"/>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000" b="1">
                <a:solidFill>
                  <a:schemeClr val="tx1"/>
                </a:solidFill>
              </a:rPr>
              <a:t>All SAMs will have a performance goal to create DA use cases for their domain.</a:t>
            </a:r>
            <a:endParaRPr lang="en-GB" sz="1000" b="1">
              <a:solidFill>
                <a:schemeClr val="tx1"/>
              </a:solidFill>
            </a:endParaRPr>
          </a:p>
        </p:txBody>
      </p:sp>
      <p:graphicFrame>
        <p:nvGraphicFramePr>
          <p:cNvPr id="6" name="Table 5">
            <a:extLst>
              <a:ext uri="{FF2B5EF4-FFF2-40B4-BE49-F238E27FC236}">
                <a16:creationId xmlns:a16="http://schemas.microsoft.com/office/drawing/2014/main" id="{C1565164-8ED9-72F5-3EC9-82E3DEE8D2C4}"/>
              </a:ext>
            </a:extLst>
          </p:cNvPr>
          <p:cNvGraphicFramePr>
            <a:graphicFrameLocks noGrp="1"/>
          </p:cNvGraphicFramePr>
          <p:nvPr>
            <p:extLst>
              <p:ext uri="{D42A27DB-BD31-4B8C-83A1-F6EECF244321}">
                <p14:modId xmlns:p14="http://schemas.microsoft.com/office/powerpoint/2010/main" val="3286249410"/>
              </p:ext>
            </p:extLst>
          </p:nvPr>
        </p:nvGraphicFramePr>
        <p:xfrm>
          <a:off x="619932" y="1673816"/>
          <a:ext cx="6322312" cy="5765374"/>
        </p:xfrm>
        <a:graphic>
          <a:graphicData uri="http://schemas.openxmlformats.org/drawingml/2006/table">
            <a:tbl>
              <a:tblPr>
                <a:tableStyleId>{5940675A-B579-460E-94D1-54222C63F5DA}</a:tableStyleId>
              </a:tblPr>
              <a:tblGrid>
                <a:gridCol w="1551321">
                  <a:extLst>
                    <a:ext uri="{9D8B030D-6E8A-4147-A177-3AD203B41FA5}">
                      <a16:colId xmlns:a16="http://schemas.microsoft.com/office/drawing/2014/main" val="1763076824"/>
                    </a:ext>
                  </a:extLst>
                </a:gridCol>
                <a:gridCol w="1551321">
                  <a:extLst>
                    <a:ext uri="{9D8B030D-6E8A-4147-A177-3AD203B41FA5}">
                      <a16:colId xmlns:a16="http://schemas.microsoft.com/office/drawing/2014/main" val="3889747047"/>
                    </a:ext>
                  </a:extLst>
                </a:gridCol>
                <a:gridCol w="1426445">
                  <a:extLst>
                    <a:ext uri="{9D8B030D-6E8A-4147-A177-3AD203B41FA5}">
                      <a16:colId xmlns:a16="http://schemas.microsoft.com/office/drawing/2014/main" val="3107663189"/>
                    </a:ext>
                  </a:extLst>
                </a:gridCol>
                <a:gridCol w="842262">
                  <a:extLst>
                    <a:ext uri="{9D8B030D-6E8A-4147-A177-3AD203B41FA5}">
                      <a16:colId xmlns:a16="http://schemas.microsoft.com/office/drawing/2014/main" val="2795395917"/>
                    </a:ext>
                  </a:extLst>
                </a:gridCol>
                <a:gridCol w="950963">
                  <a:extLst>
                    <a:ext uri="{9D8B030D-6E8A-4147-A177-3AD203B41FA5}">
                      <a16:colId xmlns:a16="http://schemas.microsoft.com/office/drawing/2014/main" val="3952391618"/>
                    </a:ext>
                  </a:extLst>
                </a:gridCol>
              </a:tblGrid>
              <a:tr h="1306218">
                <a:tc>
                  <a:txBody>
                    <a:bodyPr/>
                    <a:lstStyle/>
                    <a:p>
                      <a:pPr>
                        <a:buNone/>
                      </a:pPr>
                      <a:r>
                        <a:rPr lang="en-US" sz="1400" b="1" dirty="0">
                          <a:effectLst/>
                          <a:latin typeface="Arial"/>
                          <a:cs typeface="Arial"/>
                        </a:rPr>
                        <a:t>Use Case Name</a:t>
                      </a:r>
                      <a:endParaRPr lang="en-GB" sz="1400" b="1" dirty="0">
                        <a:effectLst/>
                        <a:latin typeface="Arial"/>
                        <a:cs typeface="Arial"/>
                      </a:endParaRPr>
                    </a:p>
                  </a:txBody>
                  <a:tcPr anchor="ctr"/>
                </a:tc>
                <a:tc>
                  <a:txBody>
                    <a:bodyPr/>
                    <a:lstStyle/>
                    <a:p>
                      <a:pPr>
                        <a:buNone/>
                      </a:pPr>
                      <a:r>
                        <a:rPr lang="en-GB" sz="1400" b="1" dirty="0">
                          <a:effectLst/>
                          <a:latin typeface="Arial"/>
                          <a:cs typeface="Arial"/>
                        </a:rPr>
                        <a:t>Problem Statement</a:t>
                      </a:r>
                      <a:endParaRPr lang="en-GB" sz="1400" dirty="0">
                        <a:effectLst/>
                        <a:latin typeface="Arial"/>
                        <a:cs typeface="Arial"/>
                      </a:endParaRPr>
                    </a:p>
                  </a:txBody>
                  <a:tcPr anchor="ctr"/>
                </a:tc>
                <a:tc>
                  <a:txBody>
                    <a:bodyPr/>
                    <a:lstStyle/>
                    <a:p>
                      <a:pPr>
                        <a:buNone/>
                      </a:pPr>
                      <a:r>
                        <a:rPr lang="en-GB" sz="1400" b="1" dirty="0">
                          <a:effectLst/>
                          <a:latin typeface="Arial"/>
                          <a:cs typeface="Arial"/>
                        </a:rPr>
                        <a:t>Data Repository</a:t>
                      </a:r>
                      <a:endParaRPr lang="en-GB" sz="1400" dirty="0">
                        <a:effectLst/>
                        <a:latin typeface="Arial"/>
                        <a:cs typeface="Arial"/>
                      </a:endParaRPr>
                    </a:p>
                  </a:txBody>
                  <a:tcPr anchor="ctr"/>
                </a:tc>
                <a:tc>
                  <a:txBody>
                    <a:bodyPr/>
                    <a:lstStyle/>
                    <a:p>
                      <a:pPr lvl="0">
                        <a:buNone/>
                      </a:pPr>
                      <a:r>
                        <a:rPr lang="en-GB" sz="1400" b="1" dirty="0">
                          <a:effectLst/>
                          <a:latin typeface="Arial"/>
                          <a:cs typeface="Arial"/>
                        </a:rPr>
                        <a:t>Self-Service / Analytics</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1">
                          <a:effectLst/>
                          <a:highlight>
                            <a:srgbClr val="FFFF00"/>
                          </a:highlight>
                          <a:latin typeface="Arial"/>
                          <a:cs typeface="Arial"/>
                        </a:rPr>
                        <a:t>Use Case Owner</a:t>
                      </a:r>
                      <a:endParaRPr lang="en-GB" sz="1400" b="1" dirty="0">
                        <a:effectLst/>
                        <a:highlight>
                          <a:srgbClr val="FFFF00"/>
                        </a:highlight>
                        <a:latin typeface="Arial"/>
                        <a:cs typeface="Arial"/>
                      </a:endParaRPr>
                    </a:p>
                  </a:txBody>
                  <a:tcPr anchor="ctr"/>
                </a:tc>
                <a:extLst>
                  <a:ext uri="{0D108BD9-81ED-4DB2-BD59-A6C34878D82A}">
                    <a16:rowId xmlns:a16="http://schemas.microsoft.com/office/drawing/2014/main" val="3879083366"/>
                  </a:ext>
                </a:extLst>
              </a:tr>
              <a:tr h="4459156">
                <a:tc>
                  <a:txBody>
                    <a:bodyPr/>
                    <a:lstStyle/>
                    <a:p>
                      <a:pPr lvl="0">
                        <a:buNone/>
                      </a:pPr>
                      <a:r>
                        <a:rPr lang="en-US" sz="1400" kern="1200" dirty="0">
                          <a:solidFill>
                            <a:srgbClr val="00B050"/>
                          </a:solidFill>
                          <a:effectLst/>
                          <a:latin typeface="Arial"/>
                          <a:ea typeface="+mn-ea"/>
                          <a:cs typeface="Arial"/>
                        </a:rPr>
                        <a:t>IAM Dashboard</a:t>
                      </a:r>
                    </a:p>
                  </a:txBody>
                  <a:tcPr anchor="ctr"/>
                </a:tc>
                <a:tc>
                  <a:txBody>
                    <a:bodyPr/>
                    <a:lstStyle/>
                    <a:p>
                      <a:pPr lvl="0">
                        <a:buNone/>
                      </a:pPr>
                      <a:r>
                        <a:rPr lang="en-US" sz="1400" kern="1200" noProof="0" dirty="0">
                          <a:solidFill>
                            <a:srgbClr val="00B050"/>
                          </a:solidFill>
                          <a:effectLst/>
                          <a:latin typeface="Arial"/>
                          <a:ea typeface="+mn-ea"/>
                          <a:cs typeface="Arial"/>
                        </a:rPr>
                        <a:t>Application onboarded for central authentication is tracked manually </a:t>
                      </a:r>
                      <a:endParaRPr lang="en-US" sz="1400" kern="1200" dirty="0">
                        <a:solidFill>
                          <a:srgbClr val="00B050"/>
                        </a:solidFill>
                        <a:effectLst/>
                        <a:latin typeface="Arial"/>
                        <a:ea typeface="+mn-ea"/>
                        <a:cs typeface="Arial"/>
                      </a:endParaRPr>
                    </a:p>
                  </a:txBody>
                  <a:tcPr anchor="ctr"/>
                </a:tc>
                <a:tc>
                  <a:txBody>
                    <a:bodyPr/>
                    <a:lstStyle/>
                    <a:p>
                      <a:pPr marL="0" lvl="0" indent="0" algn="l">
                        <a:lnSpc>
                          <a:spcPct val="100000"/>
                        </a:lnSpc>
                        <a:buNone/>
                      </a:pPr>
                      <a:r>
                        <a:rPr lang="en-US" sz="1400" b="0" i="0" u="none" strike="noStrike" baseline="0" noProof="0" dirty="0">
                          <a:solidFill>
                            <a:srgbClr val="000000"/>
                          </a:solidFill>
                          <a:effectLst/>
                          <a:latin typeface="Arial"/>
                          <a:cs typeface="Arial"/>
                        </a:rPr>
                        <a:t>CMDB</a:t>
                      </a:r>
                      <a:endParaRPr lang="en-US" sz="1400" dirty="0"/>
                    </a:p>
                    <a:p>
                      <a:pPr lvl="0">
                        <a:buNone/>
                      </a:pPr>
                      <a:r>
                        <a:rPr lang="en-US" sz="1400" b="0" i="0" u="none" strike="noStrike" baseline="0" noProof="0" dirty="0">
                          <a:solidFill>
                            <a:srgbClr val="000000"/>
                          </a:solidFill>
                          <a:effectLst/>
                          <a:latin typeface="Arial"/>
                          <a:cs typeface="Arial"/>
                        </a:rPr>
                        <a:t>Entra, AD, MFA list, SSO list, One Cert info (onboarded, toxic, session management), One Vault dashboard (List of PIDs, last password change, users who can release etc. check with Neal he has the info)</a:t>
                      </a:r>
                      <a:endParaRPr lang="en-US" sz="1400" dirty="0"/>
                    </a:p>
                  </a:txBody>
                  <a:tcPr anchor="ctr"/>
                </a:tc>
                <a:tc>
                  <a:txBody>
                    <a:bodyPr/>
                    <a:lstStyle/>
                    <a:p>
                      <a:pPr lvl="0">
                        <a:buNone/>
                      </a:pPr>
                      <a:r>
                        <a:rPr lang="en-US" sz="1400" b="0" i="0" u="none" strike="noStrike" baseline="0" noProof="0" dirty="0">
                          <a:solidFill>
                            <a:srgbClr val="000000"/>
                          </a:solidFill>
                          <a:effectLst/>
                          <a:latin typeface="Arial"/>
                          <a:cs typeface="Arial"/>
                        </a:rPr>
                        <a:t>Self-Service Dashboard</a:t>
                      </a:r>
                    </a:p>
                  </a:txBody>
                  <a:tcPr anchor="ctr"/>
                </a:tc>
                <a:tc>
                  <a:txBody>
                    <a:bodyPr/>
                    <a:lstStyle/>
                    <a:p>
                      <a:pPr marL="0" lvl="0" indent="0" algn="l">
                        <a:lnSpc>
                          <a:spcPct val="100000"/>
                        </a:lnSpc>
                        <a:buNone/>
                      </a:pPr>
                      <a:r>
                        <a:rPr lang="en-US" sz="1400" dirty="0"/>
                        <a:t>Vijay</a:t>
                      </a:r>
                    </a:p>
                  </a:txBody>
                  <a:tcPr anchor="ctr"/>
                </a:tc>
                <a:extLst>
                  <a:ext uri="{0D108BD9-81ED-4DB2-BD59-A6C34878D82A}">
                    <a16:rowId xmlns:a16="http://schemas.microsoft.com/office/drawing/2014/main" val="3958395167"/>
                  </a:ext>
                </a:extLst>
              </a:tr>
            </a:tbl>
          </a:graphicData>
        </a:graphic>
      </p:graphicFrame>
      <p:graphicFrame>
        <p:nvGraphicFramePr>
          <p:cNvPr id="7" name="Table 6">
            <a:extLst>
              <a:ext uri="{FF2B5EF4-FFF2-40B4-BE49-F238E27FC236}">
                <a16:creationId xmlns:a16="http://schemas.microsoft.com/office/drawing/2014/main" id="{EDAA1B55-48E5-0533-AB79-599AD1EDBB72}"/>
              </a:ext>
            </a:extLst>
          </p:cNvPr>
          <p:cNvGraphicFramePr>
            <a:graphicFrameLocks noGrp="1"/>
          </p:cNvGraphicFramePr>
          <p:nvPr>
            <p:extLst>
              <p:ext uri="{D42A27DB-BD31-4B8C-83A1-F6EECF244321}">
                <p14:modId xmlns:p14="http://schemas.microsoft.com/office/powerpoint/2010/main" val="1258411586"/>
              </p:ext>
            </p:extLst>
          </p:nvPr>
        </p:nvGraphicFramePr>
        <p:xfrm>
          <a:off x="7436643" y="1671637"/>
          <a:ext cx="6564750" cy="5808356"/>
        </p:xfrm>
        <a:graphic>
          <a:graphicData uri="http://schemas.openxmlformats.org/drawingml/2006/table">
            <a:tbl>
              <a:tblPr>
                <a:tableStyleId>{5940675A-B579-460E-94D1-54222C63F5DA}</a:tableStyleId>
              </a:tblPr>
              <a:tblGrid>
                <a:gridCol w="2801914">
                  <a:extLst>
                    <a:ext uri="{9D8B030D-6E8A-4147-A177-3AD203B41FA5}">
                      <a16:colId xmlns:a16="http://schemas.microsoft.com/office/drawing/2014/main" val="3889747047"/>
                    </a:ext>
                  </a:extLst>
                </a:gridCol>
                <a:gridCol w="1853683">
                  <a:extLst>
                    <a:ext uri="{9D8B030D-6E8A-4147-A177-3AD203B41FA5}">
                      <a16:colId xmlns:a16="http://schemas.microsoft.com/office/drawing/2014/main" val="3107663189"/>
                    </a:ext>
                  </a:extLst>
                </a:gridCol>
                <a:gridCol w="1909153">
                  <a:extLst>
                    <a:ext uri="{9D8B030D-6E8A-4147-A177-3AD203B41FA5}">
                      <a16:colId xmlns:a16="http://schemas.microsoft.com/office/drawing/2014/main" val="2795395917"/>
                    </a:ext>
                  </a:extLst>
                </a:gridCol>
              </a:tblGrid>
              <a:tr h="585169">
                <a:tc rowSpan="2">
                  <a:txBody>
                    <a:bodyPr/>
                    <a:lstStyle/>
                    <a:p>
                      <a:pPr>
                        <a:buNone/>
                      </a:pPr>
                      <a:r>
                        <a:rPr lang="en-GB" sz="1400" b="1">
                          <a:effectLst/>
                          <a:latin typeface="Arial"/>
                          <a:cs typeface="Arial"/>
                        </a:rPr>
                        <a:t>Use Case Name</a:t>
                      </a:r>
                      <a:endParaRPr lang="en-GB" sz="1400" b="1" dirty="0">
                        <a:effectLst/>
                        <a:latin typeface="Arial"/>
                        <a:cs typeface="Arial"/>
                      </a:endParaRPr>
                    </a:p>
                  </a:txBody>
                  <a:tcPr anchor="ctr"/>
                </a:tc>
                <a:tc gridSpan="2">
                  <a:txBody>
                    <a:bodyPr/>
                    <a:lstStyle/>
                    <a:p>
                      <a:pPr algn="ctr">
                        <a:buNone/>
                      </a:pPr>
                      <a:r>
                        <a:rPr lang="en-US" sz="1600" b="1">
                          <a:solidFill>
                            <a:schemeClr val="tx1"/>
                          </a:solidFill>
                          <a:effectLst/>
                          <a:latin typeface="Arial"/>
                          <a:cs typeface="Arial"/>
                        </a:rPr>
                        <a:t>IAM Dashboard</a:t>
                      </a:r>
                    </a:p>
                  </a:txBody>
                  <a:tcPr anchor="ctr"/>
                </a:tc>
                <a:tc hMerge="1">
                  <a:txBody>
                    <a:bodyPr/>
                    <a:lstStyle/>
                    <a:p>
                      <a:pPr>
                        <a:buNone/>
                      </a:pPr>
                      <a:endParaRPr lang="en-GB" sz="1400" b="1" dirty="0">
                        <a:effectLst/>
                        <a:latin typeface="Arial"/>
                        <a:cs typeface="Arial"/>
                      </a:endParaRPr>
                    </a:p>
                  </a:txBody>
                  <a:tcPr anchor="ctr"/>
                </a:tc>
                <a:extLst>
                  <a:ext uri="{0D108BD9-81ED-4DB2-BD59-A6C34878D82A}">
                    <a16:rowId xmlns:a16="http://schemas.microsoft.com/office/drawing/2014/main" val="3879083366"/>
                  </a:ext>
                </a:extLst>
              </a:tr>
              <a:tr h="585169">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effectLst/>
                          <a:latin typeface="Arial"/>
                          <a:cs typeface="Arial"/>
                        </a:rPr>
                        <a:t>Due Date</a:t>
                      </a:r>
                      <a:endParaRPr lang="en-GB" sz="1400" dirty="0">
                        <a:effectLst/>
                        <a:latin typeface="Arial"/>
                        <a:cs typeface="Arial"/>
                      </a:endParaRPr>
                    </a:p>
                  </a:txBody>
                  <a:tcPr anchor="ctr"/>
                </a:tc>
                <a:tc>
                  <a:txBody>
                    <a:bodyPr/>
                    <a:lstStyle/>
                    <a:p>
                      <a:pPr>
                        <a:buNone/>
                      </a:pPr>
                      <a:r>
                        <a:rPr lang="en-US" sz="1400" b="1" dirty="0">
                          <a:effectLst/>
                          <a:latin typeface="Arial"/>
                          <a:cs typeface="Arial"/>
                        </a:rPr>
                        <a:t>Status</a:t>
                      </a:r>
                      <a:endParaRPr lang="en-GB" sz="1400" b="1" dirty="0">
                        <a:effectLst/>
                        <a:latin typeface="Arial"/>
                        <a:cs typeface="Arial"/>
                      </a:endParaRPr>
                    </a:p>
                  </a:txBody>
                  <a:tcPr anchor="ctr"/>
                </a:tc>
                <a:extLst>
                  <a:ext uri="{0D108BD9-81ED-4DB2-BD59-A6C34878D82A}">
                    <a16:rowId xmlns:a16="http://schemas.microsoft.com/office/drawing/2014/main" val="3202892240"/>
                  </a:ext>
                </a:extLst>
              </a:tr>
              <a:tr h="866919">
                <a:tc>
                  <a:txBody>
                    <a:bodyPr/>
                    <a:lstStyle/>
                    <a:p>
                      <a:pPr>
                        <a:buNone/>
                      </a:pPr>
                      <a:r>
                        <a:rPr lang="en-US" sz="1400" b="1" dirty="0">
                          <a:effectLst/>
                          <a:latin typeface="Arial"/>
                          <a:cs typeface="Arial"/>
                        </a:rPr>
                        <a:t>Stakeholder Engagement</a:t>
                      </a:r>
                      <a:endParaRPr lang="en-GB" sz="1400" b="1" dirty="0">
                        <a:effectLst/>
                        <a:latin typeface="Arial"/>
                        <a:cs typeface="Arial"/>
                      </a:endParaRPr>
                    </a:p>
                  </a:txBody>
                  <a:tcPr anchor="ctr"/>
                </a:tc>
                <a:tc>
                  <a:txBody>
                    <a:bodyPr/>
                    <a:lstStyle/>
                    <a:p>
                      <a:pPr>
                        <a:buNone/>
                      </a:pPr>
                      <a:r>
                        <a:rPr lang="en-US" sz="1400">
                          <a:effectLst/>
                          <a:latin typeface="Arial"/>
                          <a:cs typeface="Arial"/>
                        </a:rPr>
                        <a:t>11th June 2026</a:t>
                      </a:r>
                      <a:endParaRPr lang="en-GB" sz="1400">
                        <a:effectLst/>
                        <a:latin typeface="Arial"/>
                        <a:cs typeface="Arial"/>
                      </a:endParaRPr>
                    </a:p>
                  </a:txBody>
                  <a:tcPr anchor="ctr"/>
                </a:tc>
                <a:tc>
                  <a:txBody>
                    <a:bodyPr/>
                    <a:lstStyle/>
                    <a:p>
                      <a:pPr lvl="0">
                        <a:buNone/>
                      </a:pPr>
                      <a:r>
                        <a:rPr lang="en-US" sz="1400" dirty="0">
                          <a:effectLst/>
                          <a:latin typeface="Arial"/>
                          <a:cs typeface="Arial"/>
                        </a:rPr>
                        <a:t>WIP</a:t>
                      </a:r>
                      <a:endParaRPr lang="en-GB" sz="1400" dirty="0">
                        <a:effectLst/>
                        <a:latin typeface="Arial"/>
                        <a:cs typeface="Arial"/>
                      </a:endParaRPr>
                    </a:p>
                  </a:txBody>
                  <a:tcPr anchor="ctr"/>
                </a:tc>
                <a:extLst>
                  <a:ext uri="{0D108BD9-81ED-4DB2-BD59-A6C34878D82A}">
                    <a16:rowId xmlns:a16="http://schemas.microsoft.com/office/drawing/2014/main" val="1046324532"/>
                  </a:ext>
                </a:extLst>
              </a:tr>
              <a:tr h="1105323">
                <a:tc>
                  <a:txBody>
                    <a:bodyPr/>
                    <a:lstStyle/>
                    <a:p>
                      <a:pPr>
                        <a:buNone/>
                      </a:pPr>
                      <a:r>
                        <a:rPr lang="en-US" sz="1400" b="1" dirty="0">
                          <a:effectLst/>
                          <a:latin typeface="Arial"/>
                          <a:cs typeface="Arial"/>
                        </a:rPr>
                        <a:t>Received Raw Data</a:t>
                      </a:r>
                      <a:endParaRPr lang="en-GB" sz="1400" b="1" dirty="0">
                        <a:effectLst/>
                        <a:latin typeface="Arial"/>
                        <a:cs typeface="Arial"/>
                      </a:endParaRPr>
                    </a:p>
                  </a:txBody>
                  <a:tcPr anchor="ctr"/>
                </a:tc>
                <a:tc>
                  <a:txBody>
                    <a:bodyPr/>
                    <a:lstStyle/>
                    <a:p>
                      <a:pPr marL="0" lvl="0" indent="0" algn="l" rtl="0" eaLnBrk="1" latinLnBrk="0" hangingPunct="1">
                        <a:lnSpc>
                          <a:spcPct val="100000"/>
                        </a:lnSpc>
                        <a:buNone/>
                      </a:pPr>
                      <a:r>
                        <a:rPr lang="en-US" sz="1400" kern="1200">
                          <a:solidFill>
                            <a:schemeClr val="tx1"/>
                          </a:solidFill>
                          <a:effectLst/>
                          <a:latin typeface="Arial"/>
                          <a:ea typeface="+mn-ea"/>
                          <a:cs typeface="Arial"/>
                        </a:rPr>
                        <a:t>24th June 2026</a:t>
                      </a:r>
                    </a:p>
                  </a:txBody>
                  <a:tcPr anchor="ctr"/>
                </a:tc>
                <a:tc>
                  <a:txBody>
                    <a:bodyPr/>
                    <a:lstStyle/>
                    <a:p>
                      <a:pPr lvl="0">
                        <a:buNone/>
                      </a:pPr>
                      <a:r>
                        <a:rPr lang="en-US" sz="1400" b="0" i="0" u="none" strike="noStrike" baseline="0" noProof="0" dirty="0">
                          <a:solidFill>
                            <a:srgbClr val="000000"/>
                          </a:solidFill>
                          <a:effectLst/>
                          <a:latin typeface="Arial"/>
                          <a:cs typeface="Arial"/>
                        </a:rPr>
                        <a:t>Yet to receive</a:t>
                      </a:r>
                    </a:p>
                  </a:txBody>
                  <a:tcPr anchor="ctr"/>
                </a:tc>
                <a:extLst>
                  <a:ext uri="{0D108BD9-81ED-4DB2-BD59-A6C34878D82A}">
                    <a16:rowId xmlns:a16="http://schemas.microsoft.com/office/drawing/2014/main" val="204290577"/>
                  </a:ext>
                </a:extLst>
              </a:tr>
              <a:tr h="1105323">
                <a:tc>
                  <a:txBody>
                    <a:bodyPr/>
                    <a:lstStyle/>
                    <a:p>
                      <a:pPr lvl="0">
                        <a:buNone/>
                      </a:pPr>
                      <a:r>
                        <a:rPr lang="en-US" sz="1400" b="1">
                          <a:effectLst/>
                          <a:latin typeface="Arial"/>
                          <a:cs typeface="Arial"/>
                        </a:rPr>
                        <a:t>Reach out to DA Team</a:t>
                      </a:r>
                      <a:endParaRPr lang="en-US" sz="1400" b="1" dirty="0">
                        <a:effectLst/>
                        <a:latin typeface="Arial"/>
                        <a:cs typeface="Arial"/>
                      </a:endParaRPr>
                    </a:p>
                  </a:txBody>
                  <a:tcPr anchor="ctr"/>
                </a:tc>
                <a:tc>
                  <a:txBody>
                    <a:bodyPr/>
                    <a:lstStyle/>
                    <a:p>
                      <a:pPr marL="0" lvl="0" indent="0" algn="l">
                        <a:lnSpc>
                          <a:spcPct val="100000"/>
                        </a:lnSpc>
                        <a:buNone/>
                      </a:pPr>
                      <a:r>
                        <a:rPr lang="en-US" sz="1400" kern="1200">
                          <a:solidFill>
                            <a:schemeClr val="tx1"/>
                          </a:solidFill>
                          <a:effectLst/>
                          <a:latin typeface="Arial"/>
                          <a:ea typeface="+mn-ea"/>
                          <a:cs typeface="Arial"/>
                        </a:rPr>
                        <a:t>30th June 2026</a:t>
                      </a:r>
                      <a:endParaRPr lang="en-US" sz="1400" kern="1200" dirty="0">
                        <a:solidFill>
                          <a:schemeClr val="tx1"/>
                        </a:solidFill>
                        <a:effectLst/>
                        <a:latin typeface="Arial"/>
                        <a:ea typeface="+mn-ea"/>
                        <a:cs typeface="Arial"/>
                      </a:endParaRPr>
                    </a:p>
                  </a:txBody>
                  <a:tcPr anchor="ctr"/>
                </a:tc>
                <a:tc>
                  <a:txBody>
                    <a:bodyPr/>
                    <a:lstStyle/>
                    <a:p>
                      <a:pPr lvl="0">
                        <a:buNone/>
                      </a:pPr>
                      <a:r>
                        <a:rPr lang="en-US" sz="1400" b="0" i="0" u="none" strike="noStrike" baseline="0" noProof="0">
                          <a:solidFill>
                            <a:srgbClr val="000000"/>
                          </a:solidFill>
                          <a:effectLst/>
                          <a:latin typeface="Arial"/>
                          <a:cs typeface="Arial"/>
                        </a:rPr>
                        <a:t>Not Started</a:t>
                      </a:r>
                      <a:endParaRPr lang="en-US" sz="1400" b="0" i="0" u="none" strike="noStrike" baseline="0" noProof="0" dirty="0">
                        <a:solidFill>
                          <a:srgbClr val="000000"/>
                        </a:solidFill>
                        <a:effectLst/>
                        <a:latin typeface="Arial"/>
                        <a:cs typeface="Arial"/>
                      </a:endParaRPr>
                    </a:p>
                  </a:txBody>
                  <a:tcPr anchor="ctr"/>
                </a:tc>
                <a:extLst>
                  <a:ext uri="{0D108BD9-81ED-4DB2-BD59-A6C34878D82A}">
                    <a16:rowId xmlns:a16="http://schemas.microsoft.com/office/drawing/2014/main" val="2084421089"/>
                  </a:ext>
                </a:extLst>
              </a:tr>
              <a:tr h="715207">
                <a:tc>
                  <a:txBody>
                    <a:bodyPr/>
                    <a:lstStyle/>
                    <a:p>
                      <a:pPr>
                        <a:buNone/>
                      </a:pPr>
                      <a:r>
                        <a:rPr lang="en-US" sz="1400" b="1" dirty="0">
                          <a:effectLst/>
                          <a:latin typeface="Arial"/>
                          <a:cs typeface="Arial"/>
                        </a:rPr>
                        <a:t>PoC</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26</a:t>
                      </a:r>
                      <a:r>
                        <a:rPr lang="en-US" sz="1400" kern="1200" baseline="30000" dirty="0">
                          <a:solidFill>
                            <a:schemeClr val="tx1"/>
                          </a:solidFill>
                          <a:effectLst/>
                          <a:latin typeface="Arial"/>
                          <a:ea typeface="+mn-ea"/>
                          <a:cs typeface="Arial"/>
                        </a:rPr>
                        <a:t>th</a:t>
                      </a:r>
                      <a:r>
                        <a:rPr lang="en-US" sz="1400" kern="1200" dirty="0">
                          <a:solidFill>
                            <a:schemeClr val="tx1"/>
                          </a:solidFill>
                          <a:effectLst/>
                          <a:latin typeface="Arial"/>
                          <a:ea typeface="+mn-ea"/>
                          <a:cs typeface="Arial"/>
                        </a:rPr>
                        <a:t> June 2026</a:t>
                      </a:r>
                    </a:p>
                  </a:txBody>
                  <a:tcPr anchor="ctr"/>
                </a:tc>
                <a:tc>
                  <a:txBody>
                    <a:bodyPr/>
                    <a:lstStyle/>
                    <a:p>
                      <a:pPr lvl="0">
                        <a:buNone/>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695297088"/>
                  </a:ext>
                </a:extLst>
              </a:tr>
              <a:tr h="8452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effectLst/>
                          <a:latin typeface="Arial"/>
                          <a:cs typeface="Arial"/>
                        </a:rPr>
                        <a:t>Implementation / Go-live</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31</a:t>
                      </a:r>
                      <a:r>
                        <a:rPr lang="en-US" sz="1400" kern="1200" baseline="30000" dirty="0">
                          <a:solidFill>
                            <a:schemeClr val="tx1"/>
                          </a:solidFill>
                          <a:effectLst/>
                          <a:latin typeface="Arial"/>
                          <a:ea typeface="+mn-ea"/>
                          <a:cs typeface="Arial"/>
                        </a:rPr>
                        <a:t>st</a:t>
                      </a:r>
                      <a:r>
                        <a:rPr lang="en-US" sz="1400" kern="1200" dirty="0">
                          <a:solidFill>
                            <a:schemeClr val="tx1"/>
                          </a:solidFill>
                          <a:effectLst/>
                          <a:latin typeface="Arial"/>
                          <a:ea typeface="+mn-ea"/>
                          <a:cs typeface="Arial"/>
                        </a:rPr>
                        <a:t> July 2026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582893317"/>
                  </a:ext>
                </a:extLst>
              </a:tr>
            </a:tbl>
          </a:graphicData>
        </a:graphic>
      </p:graphicFrame>
    </p:spTree>
    <p:extLst>
      <p:ext uri="{BB962C8B-B14F-4D97-AF65-F5344CB8AC3E}">
        <p14:creationId xmlns:p14="http://schemas.microsoft.com/office/powerpoint/2010/main" val="2799317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9F9F7-8012-078D-31F0-A9EBBC6580A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E48A0187-BC02-5C7E-76E0-74877A577F01}"/>
              </a:ext>
            </a:extLst>
          </p:cNvPr>
          <p:cNvSpPr>
            <a:spLocks noChangeArrowheads="1"/>
          </p:cNvSpPr>
          <p:nvPr/>
        </p:nvSpPr>
        <p:spPr bwMode="auto">
          <a:xfrm rot="10800000" flipV="1">
            <a:off x="2307927" y="3418060"/>
            <a:ext cx="1028130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2" name="Text 0">
            <a:extLst>
              <a:ext uri="{FF2B5EF4-FFF2-40B4-BE49-F238E27FC236}">
                <a16:creationId xmlns:a16="http://schemas.microsoft.com/office/drawing/2014/main" id="{6B9AA024-CDAF-6BE0-4729-3EFDE1777B27}"/>
              </a:ext>
            </a:extLst>
          </p:cNvPr>
          <p:cNvSpPr/>
          <p:nvPr/>
        </p:nvSpPr>
        <p:spPr>
          <a:xfrm>
            <a:off x="623454" y="578168"/>
            <a:ext cx="12513425" cy="620078"/>
          </a:xfrm>
          <a:prstGeom prst="rect">
            <a:avLst/>
          </a:prstGeom>
          <a:noFill/>
          <a:ln/>
        </p:spPr>
        <p:txBody>
          <a:bodyPr wrap="none" lIns="0" tIns="0" rIns="0" bIns="0" rtlCol="0" anchor="t"/>
          <a:lstStyle/>
          <a:p>
            <a:pPr marL="0" indent="0" algn="l">
              <a:lnSpc>
                <a:spcPts val="4850"/>
              </a:lnSpc>
              <a:buNone/>
            </a:pPr>
            <a:r>
              <a:rPr lang="en-US" sz="4000" dirty="0">
                <a:solidFill>
                  <a:srgbClr val="161613"/>
                </a:solidFill>
                <a:latin typeface="Arial Black"/>
                <a:ea typeface="DM Sans Medium" pitchFamily="34" charset="-122"/>
                <a:cs typeface="Arial"/>
              </a:rPr>
              <a:t>2026 ICS Domain DA Use Cases - </a:t>
            </a:r>
            <a:r>
              <a:rPr lang="en-US" sz="4000">
                <a:solidFill>
                  <a:srgbClr val="161613"/>
                </a:solidFill>
                <a:latin typeface="Arial Black"/>
                <a:ea typeface="DM Sans Medium" pitchFamily="34" charset="-122"/>
                <a:cs typeface="Arial"/>
              </a:rPr>
              <a:t>Finalized</a:t>
            </a:r>
            <a:endParaRPr lang="en-US" sz="4000" dirty="0" err="1">
              <a:latin typeface="Arial Black" panose="020B0A040201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C2704172-0C07-18FF-17AE-8AAC08A928DD}"/>
              </a:ext>
            </a:extLst>
          </p:cNvPr>
          <p:cNvSpPr/>
          <p:nvPr/>
        </p:nvSpPr>
        <p:spPr>
          <a:xfrm>
            <a:off x="12863548" y="293374"/>
            <a:ext cx="1614452" cy="904872"/>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000" b="1">
                <a:solidFill>
                  <a:schemeClr val="tx1"/>
                </a:solidFill>
              </a:rPr>
              <a:t>All SAMs will have a performance goal to create DA use cases for their domain.</a:t>
            </a:r>
            <a:endParaRPr lang="en-GB" sz="1000" b="1">
              <a:solidFill>
                <a:schemeClr val="tx1"/>
              </a:solidFill>
            </a:endParaRPr>
          </a:p>
        </p:txBody>
      </p:sp>
      <p:graphicFrame>
        <p:nvGraphicFramePr>
          <p:cNvPr id="6" name="Table 5">
            <a:extLst>
              <a:ext uri="{FF2B5EF4-FFF2-40B4-BE49-F238E27FC236}">
                <a16:creationId xmlns:a16="http://schemas.microsoft.com/office/drawing/2014/main" id="{EC2AB62E-78E6-4FD5-BAA1-AA99646AF015}"/>
              </a:ext>
            </a:extLst>
          </p:cNvPr>
          <p:cNvGraphicFramePr>
            <a:graphicFrameLocks noGrp="1"/>
          </p:cNvGraphicFramePr>
          <p:nvPr>
            <p:extLst>
              <p:ext uri="{D42A27DB-BD31-4B8C-83A1-F6EECF244321}">
                <p14:modId xmlns:p14="http://schemas.microsoft.com/office/powerpoint/2010/main" val="4088545930"/>
              </p:ext>
            </p:extLst>
          </p:nvPr>
        </p:nvGraphicFramePr>
        <p:xfrm>
          <a:off x="619932" y="1673816"/>
          <a:ext cx="6322312" cy="6274458"/>
        </p:xfrm>
        <a:graphic>
          <a:graphicData uri="http://schemas.openxmlformats.org/drawingml/2006/table">
            <a:tbl>
              <a:tblPr>
                <a:tableStyleId>{5940675A-B579-460E-94D1-54222C63F5DA}</a:tableStyleId>
              </a:tblPr>
              <a:tblGrid>
                <a:gridCol w="1551321">
                  <a:extLst>
                    <a:ext uri="{9D8B030D-6E8A-4147-A177-3AD203B41FA5}">
                      <a16:colId xmlns:a16="http://schemas.microsoft.com/office/drawing/2014/main" val="1763076824"/>
                    </a:ext>
                  </a:extLst>
                </a:gridCol>
                <a:gridCol w="1551321">
                  <a:extLst>
                    <a:ext uri="{9D8B030D-6E8A-4147-A177-3AD203B41FA5}">
                      <a16:colId xmlns:a16="http://schemas.microsoft.com/office/drawing/2014/main" val="3889747047"/>
                    </a:ext>
                  </a:extLst>
                </a:gridCol>
                <a:gridCol w="1426445">
                  <a:extLst>
                    <a:ext uri="{9D8B030D-6E8A-4147-A177-3AD203B41FA5}">
                      <a16:colId xmlns:a16="http://schemas.microsoft.com/office/drawing/2014/main" val="3107663189"/>
                    </a:ext>
                  </a:extLst>
                </a:gridCol>
                <a:gridCol w="842262">
                  <a:extLst>
                    <a:ext uri="{9D8B030D-6E8A-4147-A177-3AD203B41FA5}">
                      <a16:colId xmlns:a16="http://schemas.microsoft.com/office/drawing/2014/main" val="2795395917"/>
                    </a:ext>
                  </a:extLst>
                </a:gridCol>
                <a:gridCol w="950963">
                  <a:extLst>
                    <a:ext uri="{9D8B030D-6E8A-4147-A177-3AD203B41FA5}">
                      <a16:colId xmlns:a16="http://schemas.microsoft.com/office/drawing/2014/main" val="3952391618"/>
                    </a:ext>
                  </a:extLst>
                </a:gridCol>
              </a:tblGrid>
              <a:tr h="1306218">
                <a:tc>
                  <a:txBody>
                    <a:bodyPr/>
                    <a:lstStyle/>
                    <a:p>
                      <a:pPr>
                        <a:buNone/>
                      </a:pPr>
                      <a:r>
                        <a:rPr lang="en-US" sz="1400" b="1" dirty="0">
                          <a:effectLst/>
                          <a:latin typeface="Arial"/>
                          <a:cs typeface="Arial"/>
                        </a:rPr>
                        <a:t>Use Case Name</a:t>
                      </a:r>
                      <a:endParaRPr lang="en-GB" sz="1400" b="1" dirty="0">
                        <a:effectLst/>
                        <a:latin typeface="Arial"/>
                        <a:cs typeface="Arial"/>
                      </a:endParaRPr>
                    </a:p>
                  </a:txBody>
                  <a:tcPr anchor="ctr"/>
                </a:tc>
                <a:tc>
                  <a:txBody>
                    <a:bodyPr/>
                    <a:lstStyle/>
                    <a:p>
                      <a:pPr>
                        <a:buNone/>
                      </a:pPr>
                      <a:r>
                        <a:rPr lang="en-GB" sz="1400" b="1" dirty="0">
                          <a:effectLst/>
                          <a:latin typeface="Arial"/>
                          <a:cs typeface="Arial"/>
                        </a:rPr>
                        <a:t>Problem Statement</a:t>
                      </a:r>
                      <a:endParaRPr lang="en-GB" sz="1400" dirty="0">
                        <a:effectLst/>
                        <a:latin typeface="Arial"/>
                        <a:cs typeface="Arial"/>
                      </a:endParaRPr>
                    </a:p>
                  </a:txBody>
                  <a:tcPr anchor="ctr"/>
                </a:tc>
                <a:tc>
                  <a:txBody>
                    <a:bodyPr/>
                    <a:lstStyle/>
                    <a:p>
                      <a:pPr>
                        <a:buNone/>
                      </a:pPr>
                      <a:r>
                        <a:rPr lang="en-GB" sz="1400" b="1" dirty="0">
                          <a:effectLst/>
                          <a:latin typeface="Arial"/>
                          <a:cs typeface="Arial"/>
                        </a:rPr>
                        <a:t>Data Repository</a:t>
                      </a:r>
                      <a:endParaRPr lang="en-GB" sz="1400" dirty="0">
                        <a:effectLst/>
                        <a:latin typeface="Arial"/>
                        <a:cs typeface="Arial"/>
                      </a:endParaRPr>
                    </a:p>
                  </a:txBody>
                  <a:tcPr anchor="ctr"/>
                </a:tc>
                <a:tc>
                  <a:txBody>
                    <a:bodyPr/>
                    <a:lstStyle/>
                    <a:p>
                      <a:pPr lvl="0">
                        <a:buNone/>
                      </a:pPr>
                      <a:r>
                        <a:rPr lang="en-GB" sz="1400" b="1" dirty="0">
                          <a:effectLst/>
                          <a:latin typeface="Arial"/>
                          <a:cs typeface="Arial"/>
                        </a:rPr>
                        <a:t>Self-Service / Analytics</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1">
                          <a:effectLst/>
                          <a:highlight>
                            <a:srgbClr val="FFFF00"/>
                          </a:highlight>
                          <a:latin typeface="Arial"/>
                          <a:cs typeface="Arial"/>
                        </a:rPr>
                        <a:t>Use Case Owner</a:t>
                      </a:r>
                      <a:endParaRPr lang="en-GB" sz="1400" b="1" dirty="0">
                        <a:effectLst/>
                        <a:highlight>
                          <a:srgbClr val="FFFF00"/>
                        </a:highlight>
                        <a:latin typeface="Arial"/>
                        <a:cs typeface="Arial"/>
                      </a:endParaRPr>
                    </a:p>
                  </a:txBody>
                  <a:tcPr anchor="ctr"/>
                </a:tc>
                <a:extLst>
                  <a:ext uri="{0D108BD9-81ED-4DB2-BD59-A6C34878D82A}">
                    <a16:rowId xmlns:a16="http://schemas.microsoft.com/office/drawing/2014/main" val="3879083366"/>
                  </a:ext>
                </a:extLst>
              </a:tr>
              <a:tr h="4459156">
                <a:tc>
                  <a:txBody>
                    <a:bodyPr/>
                    <a:lstStyle/>
                    <a:p>
                      <a:pPr lvl="0">
                        <a:buNone/>
                      </a:pPr>
                      <a:r>
                        <a:rPr lang="en-US" sz="1800" b="1" i="0" u="none" strike="noStrike" kern="1200" noProof="0">
                          <a:solidFill>
                            <a:srgbClr val="000000"/>
                          </a:solidFill>
                          <a:effectLst/>
                          <a:latin typeface="Calibri"/>
                          <a:ea typeface="Calibri"/>
                          <a:cs typeface="Calibri"/>
                        </a:rPr>
                        <a:t>Agentic AI Audit Workpaper Assistant</a:t>
                      </a:r>
                      <a:endParaRPr lang="en-US" sz="1400" kern="1200" dirty="0">
                        <a:solidFill>
                          <a:srgbClr val="00B050"/>
                        </a:solidFill>
                        <a:effectLst/>
                        <a:latin typeface="Arial"/>
                        <a:ea typeface="+mn-ea"/>
                        <a:cs typeface="Arial"/>
                      </a:endParaRPr>
                    </a:p>
                  </a:txBody>
                  <a:tcPr anchor="ctr"/>
                </a:tc>
                <a:tc>
                  <a:txBody>
                    <a:bodyPr/>
                    <a:lstStyle/>
                    <a:p>
                      <a:pPr lvl="0" algn="l">
                        <a:lnSpc>
                          <a:spcPct val="100000"/>
                        </a:lnSpc>
                        <a:spcBef>
                          <a:spcPts val="0"/>
                        </a:spcBef>
                        <a:spcAft>
                          <a:spcPts val="0"/>
                        </a:spcAft>
                        <a:buNone/>
                      </a:pPr>
                      <a:r>
                        <a:rPr lang="en-US" sz="1800" b="0" i="0" u="none" strike="noStrike" kern="1200" noProof="0" dirty="0">
                          <a:solidFill>
                            <a:srgbClr val="000000"/>
                          </a:solidFill>
                          <a:effectLst/>
                          <a:latin typeface="Calibri"/>
                          <a:ea typeface="Calibri"/>
                          <a:cs typeface="Calibri"/>
                        </a:rPr>
                        <a:t>Auditors spend significant time manually drafting RCMs, control workpapers, RFIs, and report sections. Walkthrough discussions from meetings must be manually captured, transcribed.</a:t>
                      </a:r>
                    </a:p>
                    <a:p>
                      <a:pPr lvl="0">
                        <a:buNone/>
                      </a:pPr>
                      <a:endParaRPr lang="en-US" sz="1400" kern="1200" noProof="0" dirty="0">
                        <a:solidFill>
                          <a:srgbClr val="00B050"/>
                        </a:solidFill>
                        <a:effectLst/>
                        <a:latin typeface="Arial"/>
                        <a:ea typeface="+mn-ea"/>
                        <a:cs typeface="Arial"/>
                      </a:endParaRPr>
                    </a:p>
                  </a:txBody>
                  <a:tcPr anchor="ctr"/>
                </a:tc>
                <a:tc>
                  <a:txBody>
                    <a:bodyPr/>
                    <a:lstStyle/>
                    <a:p>
                      <a:pPr lvl="0" algn="l">
                        <a:lnSpc>
                          <a:spcPct val="100000"/>
                        </a:lnSpc>
                        <a:spcBef>
                          <a:spcPts val="0"/>
                        </a:spcBef>
                        <a:spcAft>
                          <a:spcPts val="0"/>
                        </a:spcAft>
                        <a:buNone/>
                      </a:pPr>
                      <a:r>
                        <a:rPr lang="en-US" sz="1800" b="0" i="0" u="none" strike="noStrike" baseline="0" noProof="0">
                          <a:solidFill>
                            <a:srgbClr val="000000"/>
                          </a:solidFill>
                          <a:effectLst/>
                          <a:latin typeface="Calibri"/>
                          <a:ea typeface="Calibri"/>
                          <a:cs typeface="Calibri"/>
                        </a:rPr>
                        <a:t>Teams meeting transcripts, prior audit workpapers, RCM templates, control descriptions, audit timelines, Jira tickets </a:t>
                      </a:r>
                    </a:p>
                  </a:txBody>
                  <a:tcPr anchor="ctr"/>
                </a:tc>
                <a:tc>
                  <a:txBody>
                    <a:bodyPr/>
                    <a:lstStyle/>
                    <a:p>
                      <a:pPr lvl="0">
                        <a:buNone/>
                      </a:pPr>
                      <a:r>
                        <a:rPr lang="en-US" sz="1400" b="0" i="0" u="none" strike="noStrike" baseline="0" noProof="0" dirty="0">
                          <a:solidFill>
                            <a:srgbClr val="000000"/>
                          </a:solidFill>
                          <a:effectLst/>
                          <a:latin typeface="Arial"/>
                          <a:cs typeface="Arial"/>
                        </a:rPr>
                        <a:t>Self-Service Dashboard</a:t>
                      </a:r>
                    </a:p>
                  </a:txBody>
                  <a:tcPr anchor="ctr"/>
                </a:tc>
                <a:tc>
                  <a:txBody>
                    <a:bodyPr/>
                    <a:lstStyle/>
                    <a:p>
                      <a:pPr marL="0" lvl="0" indent="0" algn="l">
                        <a:lnSpc>
                          <a:spcPct val="100000"/>
                        </a:lnSpc>
                        <a:buNone/>
                      </a:pPr>
                      <a:r>
                        <a:rPr lang="en-US" sz="1400"/>
                        <a:t>Ananya</a:t>
                      </a:r>
                      <a:endParaRPr lang="en-US" sz="1400" dirty="0"/>
                    </a:p>
                  </a:txBody>
                  <a:tcPr anchor="ctr"/>
                </a:tc>
                <a:extLst>
                  <a:ext uri="{0D108BD9-81ED-4DB2-BD59-A6C34878D82A}">
                    <a16:rowId xmlns:a16="http://schemas.microsoft.com/office/drawing/2014/main" val="3958395167"/>
                  </a:ext>
                </a:extLst>
              </a:tr>
            </a:tbl>
          </a:graphicData>
        </a:graphic>
      </p:graphicFrame>
      <p:graphicFrame>
        <p:nvGraphicFramePr>
          <p:cNvPr id="7" name="Table 6">
            <a:extLst>
              <a:ext uri="{FF2B5EF4-FFF2-40B4-BE49-F238E27FC236}">
                <a16:creationId xmlns:a16="http://schemas.microsoft.com/office/drawing/2014/main" id="{E91A62EE-3A72-D8E4-A853-58EC680A4FD2}"/>
              </a:ext>
            </a:extLst>
          </p:cNvPr>
          <p:cNvGraphicFramePr>
            <a:graphicFrameLocks noGrp="1"/>
          </p:cNvGraphicFramePr>
          <p:nvPr>
            <p:extLst>
              <p:ext uri="{D42A27DB-BD31-4B8C-83A1-F6EECF244321}">
                <p14:modId xmlns:p14="http://schemas.microsoft.com/office/powerpoint/2010/main" val="3480146904"/>
              </p:ext>
            </p:extLst>
          </p:nvPr>
        </p:nvGraphicFramePr>
        <p:xfrm>
          <a:off x="7275046" y="1673816"/>
          <a:ext cx="7202954" cy="6337456"/>
        </p:xfrm>
        <a:graphic>
          <a:graphicData uri="http://schemas.openxmlformats.org/drawingml/2006/table">
            <a:tbl>
              <a:tblPr>
                <a:tableStyleId>{5940675A-B579-460E-94D1-54222C63F5DA}</a:tableStyleId>
              </a:tblPr>
              <a:tblGrid>
                <a:gridCol w="3074307">
                  <a:extLst>
                    <a:ext uri="{9D8B030D-6E8A-4147-A177-3AD203B41FA5}">
                      <a16:colId xmlns:a16="http://schemas.microsoft.com/office/drawing/2014/main" val="3889747047"/>
                    </a:ext>
                  </a:extLst>
                </a:gridCol>
                <a:gridCol w="2033892">
                  <a:extLst>
                    <a:ext uri="{9D8B030D-6E8A-4147-A177-3AD203B41FA5}">
                      <a16:colId xmlns:a16="http://schemas.microsoft.com/office/drawing/2014/main" val="3107663189"/>
                    </a:ext>
                  </a:extLst>
                </a:gridCol>
                <a:gridCol w="2094755">
                  <a:extLst>
                    <a:ext uri="{9D8B030D-6E8A-4147-A177-3AD203B41FA5}">
                      <a16:colId xmlns:a16="http://schemas.microsoft.com/office/drawing/2014/main" val="2795395917"/>
                    </a:ext>
                  </a:extLst>
                </a:gridCol>
              </a:tblGrid>
              <a:tr h="629086">
                <a:tc rowSpan="2">
                  <a:txBody>
                    <a:bodyPr/>
                    <a:lstStyle/>
                    <a:p>
                      <a:pPr>
                        <a:buNone/>
                      </a:pPr>
                      <a:r>
                        <a:rPr lang="en-GB" sz="1400" b="1">
                          <a:effectLst/>
                          <a:latin typeface="Arial"/>
                          <a:cs typeface="Arial"/>
                        </a:rPr>
                        <a:t>Use Case Name</a:t>
                      </a:r>
                      <a:endParaRPr lang="en-GB" sz="1400" b="1" dirty="0">
                        <a:effectLst/>
                        <a:latin typeface="Arial"/>
                        <a:cs typeface="Arial"/>
                      </a:endParaRPr>
                    </a:p>
                  </a:txBody>
                  <a:tcPr anchor="ctr"/>
                </a:tc>
                <a:tc gridSpan="2">
                  <a:txBody>
                    <a:bodyPr/>
                    <a:lstStyle/>
                    <a:p>
                      <a:pPr algn="ctr">
                        <a:buNone/>
                      </a:pPr>
                      <a:r>
                        <a:rPr lang="en-US" sz="1600" b="1">
                          <a:solidFill>
                            <a:schemeClr val="tx1"/>
                          </a:solidFill>
                          <a:effectLst/>
                          <a:latin typeface="Arial"/>
                          <a:cs typeface="Arial"/>
                        </a:rPr>
                        <a:t>IAM Dashboard</a:t>
                      </a:r>
                    </a:p>
                  </a:txBody>
                  <a:tcPr anchor="ctr"/>
                </a:tc>
                <a:tc hMerge="1">
                  <a:txBody>
                    <a:bodyPr/>
                    <a:lstStyle/>
                    <a:p>
                      <a:pPr>
                        <a:buNone/>
                      </a:pPr>
                      <a:endParaRPr lang="en-GB" sz="1400" b="1" dirty="0">
                        <a:effectLst/>
                        <a:latin typeface="Arial"/>
                        <a:cs typeface="Arial"/>
                      </a:endParaRPr>
                    </a:p>
                  </a:txBody>
                  <a:tcPr anchor="ctr"/>
                </a:tc>
                <a:extLst>
                  <a:ext uri="{0D108BD9-81ED-4DB2-BD59-A6C34878D82A}">
                    <a16:rowId xmlns:a16="http://schemas.microsoft.com/office/drawing/2014/main" val="3879083366"/>
                  </a:ext>
                </a:extLst>
              </a:tr>
              <a:tr h="629086">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effectLst/>
                          <a:latin typeface="Arial"/>
                          <a:cs typeface="Arial"/>
                        </a:rPr>
                        <a:t>Due Date</a:t>
                      </a:r>
                      <a:endParaRPr lang="en-GB" sz="1400" dirty="0">
                        <a:effectLst/>
                        <a:latin typeface="Arial"/>
                        <a:cs typeface="Arial"/>
                      </a:endParaRPr>
                    </a:p>
                  </a:txBody>
                  <a:tcPr anchor="ctr"/>
                </a:tc>
                <a:tc>
                  <a:txBody>
                    <a:bodyPr/>
                    <a:lstStyle/>
                    <a:p>
                      <a:pPr>
                        <a:buNone/>
                      </a:pPr>
                      <a:r>
                        <a:rPr lang="en-US" sz="1400" b="1" dirty="0">
                          <a:effectLst/>
                          <a:latin typeface="Arial"/>
                          <a:cs typeface="Arial"/>
                        </a:rPr>
                        <a:t>Status</a:t>
                      </a:r>
                      <a:endParaRPr lang="en-GB" sz="1400" b="1" dirty="0">
                        <a:effectLst/>
                        <a:latin typeface="Arial"/>
                        <a:cs typeface="Arial"/>
                      </a:endParaRPr>
                    </a:p>
                  </a:txBody>
                  <a:tcPr anchor="ctr"/>
                </a:tc>
                <a:extLst>
                  <a:ext uri="{0D108BD9-81ED-4DB2-BD59-A6C34878D82A}">
                    <a16:rowId xmlns:a16="http://schemas.microsoft.com/office/drawing/2014/main" val="3202892240"/>
                  </a:ext>
                </a:extLst>
              </a:tr>
              <a:tr h="955279">
                <a:tc>
                  <a:txBody>
                    <a:bodyPr/>
                    <a:lstStyle/>
                    <a:p>
                      <a:pPr>
                        <a:buNone/>
                      </a:pPr>
                      <a:r>
                        <a:rPr lang="en-US" sz="1400" b="1" dirty="0">
                          <a:effectLst/>
                          <a:latin typeface="Arial"/>
                          <a:cs typeface="Arial"/>
                        </a:rPr>
                        <a:t>Stakeholder Engagement</a:t>
                      </a:r>
                      <a:endParaRPr lang="en-GB" sz="1400" b="1" dirty="0">
                        <a:effectLst/>
                        <a:latin typeface="Arial"/>
                        <a:cs typeface="Arial"/>
                      </a:endParaRPr>
                    </a:p>
                  </a:txBody>
                  <a:tcPr anchor="ctr"/>
                </a:tc>
                <a:tc>
                  <a:txBody>
                    <a:bodyPr/>
                    <a:lstStyle/>
                    <a:p>
                      <a:pPr>
                        <a:buNone/>
                      </a:pPr>
                      <a:r>
                        <a:rPr lang="en-US" sz="1400">
                          <a:effectLst/>
                          <a:latin typeface="Arial"/>
                          <a:cs typeface="Arial"/>
                        </a:rPr>
                        <a:t>8th May 2026</a:t>
                      </a:r>
                      <a:endParaRPr lang="en-GB" sz="1400">
                        <a:effectLst/>
                        <a:latin typeface="Arial"/>
                        <a:cs typeface="Arial"/>
                      </a:endParaRPr>
                    </a:p>
                  </a:txBody>
                  <a:tcPr anchor="ctr"/>
                </a:tc>
                <a:tc>
                  <a:txBody>
                    <a:bodyPr/>
                    <a:lstStyle/>
                    <a:p>
                      <a:pPr lvl="0">
                        <a:buNone/>
                      </a:pPr>
                      <a:r>
                        <a:rPr lang="en-US" sz="1400">
                          <a:effectLst/>
                          <a:latin typeface="Arial"/>
                          <a:cs typeface="Arial"/>
                        </a:rPr>
                        <a:t>Completed</a:t>
                      </a:r>
                      <a:endParaRPr lang="en-US" sz="1400" dirty="0">
                        <a:effectLst/>
                        <a:latin typeface="Arial"/>
                        <a:cs typeface="Arial"/>
                      </a:endParaRPr>
                    </a:p>
                  </a:txBody>
                  <a:tcPr anchor="ctr"/>
                </a:tc>
                <a:extLst>
                  <a:ext uri="{0D108BD9-81ED-4DB2-BD59-A6C34878D82A}">
                    <a16:rowId xmlns:a16="http://schemas.microsoft.com/office/drawing/2014/main" val="1046324532"/>
                  </a:ext>
                </a:extLst>
              </a:tr>
              <a:tr h="1211572">
                <a:tc>
                  <a:txBody>
                    <a:bodyPr/>
                    <a:lstStyle/>
                    <a:p>
                      <a:pPr>
                        <a:buNone/>
                      </a:pPr>
                      <a:r>
                        <a:rPr lang="en-US" sz="1400" b="1" dirty="0">
                          <a:effectLst/>
                          <a:latin typeface="Arial"/>
                          <a:cs typeface="Arial"/>
                        </a:rPr>
                        <a:t>Received Raw Data</a:t>
                      </a:r>
                      <a:endParaRPr lang="en-GB" sz="1400" b="1" dirty="0">
                        <a:effectLst/>
                        <a:latin typeface="Arial"/>
                        <a:cs typeface="Arial"/>
                      </a:endParaRPr>
                    </a:p>
                  </a:txBody>
                  <a:tcPr anchor="ctr"/>
                </a:tc>
                <a:tc>
                  <a:txBody>
                    <a:bodyPr/>
                    <a:lstStyle/>
                    <a:p>
                      <a:pPr marL="0" lvl="0" indent="0" algn="l" rtl="0" eaLnBrk="1" latinLnBrk="0" hangingPunct="1">
                        <a:lnSpc>
                          <a:spcPct val="100000"/>
                        </a:lnSpc>
                        <a:buNone/>
                      </a:pPr>
                      <a:r>
                        <a:rPr lang="en-US" sz="1400" kern="1200">
                          <a:solidFill>
                            <a:schemeClr val="tx1"/>
                          </a:solidFill>
                          <a:effectLst/>
                          <a:latin typeface="Arial"/>
                          <a:ea typeface="+mn-ea"/>
                          <a:cs typeface="Arial"/>
                        </a:rPr>
                        <a:t>24th June 2026</a:t>
                      </a:r>
                    </a:p>
                  </a:txBody>
                  <a:tcPr anchor="ctr"/>
                </a:tc>
                <a:tc>
                  <a:txBody>
                    <a:bodyPr/>
                    <a:lstStyle/>
                    <a:p>
                      <a:pPr lvl="0">
                        <a:buNone/>
                      </a:pPr>
                      <a:endParaRPr lang="en-US" sz="1400" b="0" i="0" u="none" strike="noStrike" baseline="0" noProof="0" dirty="0">
                        <a:solidFill>
                          <a:srgbClr val="000000"/>
                        </a:solidFill>
                        <a:effectLst/>
                        <a:latin typeface="Arial"/>
                        <a:cs typeface="Arial"/>
                      </a:endParaRPr>
                    </a:p>
                  </a:txBody>
                  <a:tcPr anchor="ctr"/>
                </a:tc>
                <a:extLst>
                  <a:ext uri="{0D108BD9-81ED-4DB2-BD59-A6C34878D82A}">
                    <a16:rowId xmlns:a16="http://schemas.microsoft.com/office/drawing/2014/main" val="204290577"/>
                  </a:ext>
                </a:extLst>
              </a:tr>
              <a:tr h="1211572">
                <a:tc>
                  <a:txBody>
                    <a:bodyPr/>
                    <a:lstStyle/>
                    <a:p>
                      <a:pPr lvl="0">
                        <a:buNone/>
                      </a:pPr>
                      <a:r>
                        <a:rPr lang="en-US" sz="1400" b="1">
                          <a:effectLst/>
                          <a:latin typeface="Arial"/>
                          <a:cs typeface="Arial"/>
                        </a:rPr>
                        <a:t>Reach out to DA Team</a:t>
                      </a:r>
                      <a:endParaRPr lang="en-US" sz="1400" b="1" dirty="0">
                        <a:effectLst/>
                        <a:latin typeface="Arial"/>
                        <a:cs typeface="Arial"/>
                      </a:endParaRPr>
                    </a:p>
                  </a:txBody>
                  <a:tcPr anchor="ctr"/>
                </a:tc>
                <a:tc>
                  <a:txBody>
                    <a:bodyPr/>
                    <a:lstStyle/>
                    <a:p>
                      <a:pPr marL="0" lvl="0" indent="0" algn="l">
                        <a:lnSpc>
                          <a:spcPct val="100000"/>
                        </a:lnSpc>
                        <a:buNone/>
                      </a:pPr>
                      <a:r>
                        <a:rPr lang="en-US" sz="1400" kern="1200" dirty="0">
                          <a:solidFill>
                            <a:schemeClr val="tx1"/>
                          </a:solidFill>
                          <a:effectLst/>
                          <a:latin typeface="Arial"/>
                          <a:ea typeface="+mn-ea"/>
                          <a:cs typeface="Arial"/>
                        </a:rPr>
                        <a:t>30th June 2026</a:t>
                      </a:r>
                    </a:p>
                  </a:txBody>
                  <a:tcPr anchor="ctr"/>
                </a:tc>
                <a:tc>
                  <a:txBody>
                    <a:bodyPr/>
                    <a:lstStyle/>
                    <a:p>
                      <a:pPr lvl="0">
                        <a:buNone/>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2084421089"/>
                  </a:ext>
                </a:extLst>
              </a:tr>
              <a:tr h="768883">
                <a:tc>
                  <a:txBody>
                    <a:bodyPr/>
                    <a:lstStyle/>
                    <a:p>
                      <a:pPr>
                        <a:buNone/>
                      </a:pPr>
                      <a:r>
                        <a:rPr lang="en-US" sz="1400" b="1" dirty="0">
                          <a:effectLst/>
                          <a:latin typeface="Arial"/>
                          <a:cs typeface="Arial"/>
                        </a:rPr>
                        <a:t>PoC</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26</a:t>
                      </a:r>
                      <a:r>
                        <a:rPr lang="en-US" sz="1400" kern="1200" baseline="30000" dirty="0">
                          <a:solidFill>
                            <a:schemeClr val="tx1"/>
                          </a:solidFill>
                          <a:effectLst/>
                          <a:latin typeface="Arial"/>
                          <a:ea typeface="+mn-ea"/>
                          <a:cs typeface="Arial"/>
                        </a:rPr>
                        <a:t>th</a:t>
                      </a:r>
                      <a:r>
                        <a:rPr lang="en-US" sz="1400" kern="1200" dirty="0">
                          <a:solidFill>
                            <a:schemeClr val="tx1"/>
                          </a:solidFill>
                          <a:effectLst/>
                          <a:latin typeface="Arial"/>
                          <a:ea typeface="+mn-ea"/>
                          <a:cs typeface="Arial"/>
                        </a:rPr>
                        <a:t> June 2026</a:t>
                      </a:r>
                    </a:p>
                  </a:txBody>
                  <a:tcPr anchor="ctr"/>
                </a:tc>
                <a:tc>
                  <a:txBody>
                    <a:bodyPr/>
                    <a:lstStyle/>
                    <a:p>
                      <a:pPr lvl="0">
                        <a:buNone/>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695297088"/>
                  </a:ext>
                </a:extLst>
              </a:tr>
              <a:tr h="9319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effectLst/>
                          <a:latin typeface="Arial"/>
                          <a:cs typeface="Arial"/>
                        </a:rPr>
                        <a:t>Implementation / Go-live</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31</a:t>
                      </a:r>
                      <a:r>
                        <a:rPr lang="en-US" sz="1400" kern="1200" baseline="30000" dirty="0">
                          <a:solidFill>
                            <a:schemeClr val="tx1"/>
                          </a:solidFill>
                          <a:effectLst/>
                          <a:latin typeface="Arial"/>
                          <a:ea typeface="+mn-ea"/>
                          <a:cs typeface="Arial"/>
                        </a:rPr>
                        <a:t>st</a:t>
                      </a:r>
                      <a:r>
                        <a:rPr lang="en-US" sz="1400" kern="1200" dirty="0">
                          <a:solidFill>
                            <a:schemeClr val="tx1"/>
                          </a:solidFill>
                          <a:effectLst/>
                          <a:latin typeface="Arial"/>
                          <a:ea typeface="+mn-ea"/>
                          <a:cs typeface="Arial"/>
                        </a:rPr>
                        <a:t> July 2026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582893317"/>
                  </a:ext>
                </a:extLst>
              </a:tr>
            </a:tbl>
          </a:graphicData>
        </a:graphic>
      </p:graphicFrame>
    </p:spTree>
    <p:extLst>
      <p:ext uri="{BB962C8B-B14F-4D97-AF65-F5344CB8AC3E}">
        <p14:creationId xmlns:p14="http://schemas.microsoft.com/office/powerpoint/2010/main" val="2810370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3291F-7093-3255-12A5-8FFEE11AFD7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DBAD10B-231D-C382-9D51-7105162A6C2B}"/>
              </a:ext>
            </a:extLst>
          </p:cNvPr>
          <p:cNvSpPr>
            <a:spLocks noChangeArrowheads="1"/>
          </p:cNvSpPr>
          <p:nvPr/>
        </p:nvSpPr>
        <p:spPr bwMode="auto">
          <a:xfrm rot="10800000" flipV="1">
            <a:off x="2307927" y="3418060"/>
            <a:ext cx="1028130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2" name="Text 0">
            <a:extLst>
              <a:ext uri="{FF2B5EF4-FFF2-40B4-BE49-F238E27FC236}">
                <a16:creationId xmlns:a16="http://schemas.microsoft.com/office/drawing/2014/main" id="{31A1187B-58EB-5B54-451C-28112C42887E}"/>
              </a:ext>
            </a:extLst>
          </p:cNvPr>
          <p:cNvSpPr/>
          <p:nvPr/>
        </p:nvSpPr>
        <p:spPr>
          <a:xfrm>
            <a:off x="623454" y="578168"/>
            <a:ext cx="12513425" cy="620078"/>
          </a:xfrm>
          <a:prstGeom prst="rect">
            <a:avLst/>
          </a:prstGeom>
          <a:noFill/>
          <a:ln/>
        </p:spPr>
        <p:txBody>
          <a:bodyPr wrap="none" lIns="0" tIns="0" rIns="0" bIns="0" rtlCol="0" anchor="t"/>
          <a:lstStyle/>
          <a:p>
            <a:pPr marL="0" indent="0" algn="l">
              <a:lnSpc>
                <a:spcPts val="4850"/>
              </a:lnSpc>
              <a:buNone/>
            </a:pPr>
            <a:r>
              <a:rPr lang="en-US" sz="4000" dirty="0">
                <a:solidFill>
                  <a:srgbClr val="161613"/>
                </a:solidFill>
                <a:latin typeface="Arial Black"/>
                <a:ea typeface="DM Sans Medium" pitchFamily="34" charset="-122"/>
                <a:cs typeface="Arial"/>
              </a:rPr>
              <a:t>2026 ICS Domain DA Use Cases - </a:t>
            </a:r>
            <a:r>
              <a:rPr lang="en-US" sz="4000">
                <a:solidFill>
                  <a:srgbClr val="161613"/>
                </a:solidFill>
                <a:latin typeface="Arial Black"/>
                <a:ea typeface="DM Sans Medium" pitchFamily="34" charset="-122"/>
                <a:cs typeface="Arial"/>
              </a:rPr>
              <a:t>Finalized</a:t>
            </a:r>
            <a:endParaRPr lang="en-US" sz="4000" dirty="0" err="1">
              <a:latin typeface="Arial Black" panose="020B0A040201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042323A9-43B3-D3A4-82FC-4B598C5D0CC1}"/>
              </a:ext>
            </a:extLst>
          </p:cNvPr>
          <p:cNvSpPr/>
          <p:nvPr/>
        </p:nvSpPr>
        <p:spPr>
          <a:xfrm>
            <a:off x="12863548" y="293374"/>
            <a:ext cx="1614452" cy="904872"/>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000" b="1">
                <a:solidFill>
                  <a:schemeClr val="tx1"/>
                </a:solidFill>
              </a:rPr>
              <a:t>All SAMs will have a performance goal to create DA use cases for their domain.</a:t>
            </a:r>
            <a:endParaRPr lang="en-GB" sz="1000" b="1">
              <a:solidFill>
                <a:schemeClr val="tx1"/>
              </a:solidFill>
            </a:endParaRPr>
          </a:p>
        </p:txBody>
      </p:sp>
      <p:graphicFrame>
        <p:nvGraphicFramePr>
          <p:cNvPr id="6" name="Table 5">
            <a:extLst>
              <a:ext uri="{FF2B5EF4-FFF2-40B4-BE49-F238E27FC236}">
                <a16:creationId xmlns:a16="http://schemas.microsoft.com/office/drawing/2014/main" id="{0F23B16F-4147-6479-75B6-60E1ADA3BE85}"/>
              </a:ext>
            </a:extLst>
          </p:cNvPr>
          <p:cNvGraphicFramePr>
            <a:graphicFrameLocks noGrp="1"/>
          </p:cNvGraphicFramePr>
          <p:nvPr>
            <p:extLst>
              <p:ext uri="{D42A27DB-BD31-4B8C-83A1-F6EECF244321}">
                <p14:modId xmlns:p14="http://schemas.microsoft.com/office/powerpoint/2010/main" val="3589281058"/>
              </p:ext>
            </p:extLst>
          </p:nvPr>
        </p:nvGraphicFramePr>
        <p:xfrm>
          <a:off x="619932" y="1673816"/>
          <a:ext cx="6322312" cy="5765374"/>
        </p:xfrm>
        <a:graphic>
          <a:graphicData uri="http://schemas.openxmlformats.org/drawingml/2006/table">
            <a:tbl>
              <a:tblPr>
                <a:tableStyleId>{5940675A-B579-460E-94D1-54222C63F5DA}</a:tableStyleId>
              </a:tblPr>
              <a:tblGrid>
                <a:gridCol w="1551321">
                  <a:extLst>
                    <a:ext uri="{9D8B030D-6E8A-4147-A177-3AD203B41FA5}">
                      <a16:colId xmlns:a16="http://schemas.microsoft.com/office/drawing/2014/main" val="1763076824"/>
                    </a:ext>
                  </a:extLst>
                </a:gridCol>
                <a:gridCol w="1551321">
                  <a:extLst>
                    <a:ext uri="{9D8B030D-6E8A-4147-A177-3AD203B41FA5}">
                      <a16:colId xmlns:a16="http://schemas.microsoft.com/office/drawing/2014/main" val="3889747047"/>
                    </a:ext>
                  </a:extLst>
                </a:gridCol>
                <a:gridCol w="1426445">
                  <a:extLst>
                    <a:ext uri="{9D8B030D-6E8A-4147-A177-3AD203B41FA5}">
                      <a16:colId xmlns:a16="http://schemas.microsoft.com/office/drawing/2014/main" val="3107663189"/>
                    </a:ext>
                  </a:extLst>
                </a:gridCol>
                <a:gridCol w="842262">
                  <a:extLst>
                    <a:ext uri="{9D8B030D-6E8A-4147-A177-3AD203B41FA5}">
                      <a16:colId xmlns:a16="http://schemas.microsoft.com/office/drawing/2014/main" val="2795395917"/>
                    </a:ext>
                  </a:extLst>
                </a:gridCol>
                <a:gridCol w="950963">
                  <a:extLst>
                    <a:ext uri="{9D8B030D-6E8A-4147-A177-3AD203B41FA5}">
                      <a16:colId xmlns:a16="http://schemas.microsoft.com/office/drawing/2014/main" val="3952391618"/>
                    </a:ext>
                  </a:extLst>
                </a:gridCol>
              </a:tblGrid>
              <a:tr h="1306218">
                <a:tc>
                  <a:txBody>
                    <a:bodyPr/>
                    <a:lstStyle/>
                    <a:p>
                      <a:pPr>
                        <a:buNone/>
                      </a:pPr>
                      <a:r>
                        <a:rPr lang="en-US" sz="1400" b="1" dirty="0">
                          <a:effectLst/>
                          <a:latin typeface="Arial"/>
                          <a:cs typeface="Arial"/>
                        </a:rPr>
                        <a:t>Use Case Name</a:t>
                      </a:r>
                      <a:endParaRPr lang="en-GB" sz="1400" b="1" dirty="0">
                        <a:effectLst/>
                        <a:latin typeface="Arial"/>
                        <a:cs typeface="Arial"/>
                      </a:endParaRPr>
                    </a:p>
                  </a:txBody>
                  <a:tcPr anchor="ctr"/>
                </a:tc>
                <a:tc>
                  <a:txBody>
                    <a:bodyPr/>
                    <a:lstStyle/>
                    <a:p>
                      <a:pPr>
                        <a:buNone/>
                      </a:pPr>
                      <a:r>
                        <a:rPr lang="en-GB" sz="1400" b="1" dirty="0">
                          <a:effectLst/>
                          <a:latin typeface="Arial"/>
                          <a:cs typeface="Arial"/>
                        </a:rPr>
                        <a:t>Problem Statement</a:t>
                      </a:r>
                      <a:endParaRPr lang="en-GB" sz="1400" dirty="0">
                        <a:effectLst/>
                        <a:latin typeface="Arial"/>
                        <a:cs typeface="Arial"/>
                      </a:endParaRPr>
                    </a:p>
                  </a:txBody>
                  <a:tcPr anchor="ctr"/>
                </a:tc>
                <a:tc>
                  <a:txBody>
                    <a:bodyPr/>
                    <a:lstStyle/>
                    <a:p>
                      <a:pPr>
                        <a:buNone/>
                      </a:pPr>
                      <a:r>
                        <a:rPr lang="en-GB" sz="1400" b="1" dirty="0">
                          <a:effectLst/>
                          <a:latin typeface="Arial"/>
                          <a:cs typeface="Arial"/>
                        </a:rPr>
                        <a:t>Data Repository</a:t>
                      </a:r>
                      <a:endParaRPr lang="en-GB" sz="1400" dirty="0">
                        <a:effectLst/>
                        <a:latin typeface="Arial"/>
                        <a:cs typeface="Arial"/>
                      </a:endParaRPr>
                    </a:p>
                  </a:txBody>
                  <a:tcPr anchor="ctr"/>
                </a:tc>
                <a:tc>
                  <a:txBody>
                    <a:bodyPr/>
                    <a:lstStyle/>
                    <a:p>
                      <a:pPr lvl="0">
                        <a:buNone/>
                      </a:pPr>
                      <a:r>
                        <a:rPr lang="en-GB" sz="1400" b="1" dirty="0">
                          <a:effectLst/>
                          <a:latin typeface="Arial"/>
                          <a:cs typeface="Arial"/>
                        </a:rPr>
                        <a:t>Self-Service / Analytics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effectLst/>
                          <a:highlight>
                            <a:srgbClr val="FFFF00"/>
                          </a:highlight>
                          <a:latin typeface="Arial"/>
                          <a:cs typeface="Arial"/>
                        </a:rPr>
                        <a:t>Use Case Owner</a:t>
                      </a:r>
                      <a:endParaRPr lang="en-GB" sz="1400" b="1" dirty="0">
                        <a:effectLst/>
                        <a:highlight>
                          <a:srgbClr val="FFFF00"/>
                        </a:highlight>
                        <a:latin typeface="Arial"/>
                        <a:cs typeface="Arial"/>
                      </a:endParaRPr>
                    </a:p>
                  </a:txBody>
                  <a:tcPr anchor="ctr"/>
                </a:tc>
                <a:extLst>
                  <a:ext uri="{0D108BD9-81ED-4DB2-BD59-A6C34878D82A}">
                    <a16:rowId xmlns:a16="http://schemas.microsoft.com/office/drawing/2014/main" val="3879083366"/>
                  </a:ext>
                </a:extLst>
              </a:tr>
              <a:tr h="4459156">
                <a:tc>
                  <a:txBody>
                    <a:bodyPr/>
                    <a:lstStyle/>
                    <a:p>
                      <a:pPr>
                        <a:buNone/>
                      </a:pPr>
                      <a:r>
                        <a:rPr lang="en-US" sz="1400" b="1" dirty="0">
                          <a:effectLst/>
                        </a:rPr>
                        <a:t>UC‑02: Audit Scheduling Assistant</a:t>
                      </a:r>
                    </a:p>
                  </a:txBody>
                  <a:tcPr anchor="ctr"/>
                </a:tc>
                <a:tc>
                  <a:txBody>
                    <a:bodyPr/>
                    <a:lstStyle/>
                    <a:p>
                      <a:pPr>
                        <a:buNone/>
                      </a:pPr>
                      <a:r>
                        <a:rPr lang="en-US" sz="1400" dirty="0">
                          <a:effectLst/>
                        </a:rPr>
                        <a:t>Audit scheduling and resourcing is currently manual and time‑consuming, requiring planners to reconcile auditor </a:t>
                      </a:r>
                      <a:r>
                        <a:rPr lang="en-US" sz="1400" b="1" dirty="0">
                          <a:effectLst/>
                        </a:rPr>
                        <a:t>leave availability</a:t>
                      </a:r>
                      <a:r>
                        <a:rPr lang="en-US" sz="1400" dirty="0">
                          <a:effectLst/>
                        </a:rPr>
                        <a:t>, </a:t>
                      </a:r>
                      <a:r>
                        <a:rPr lang="en-US" sz="1400" b="1" dirty="0">
                          <a:effectLst/>
                        </a:rPr>
                        <a:t>skills/certifications</a:t>
                      </a:r>
                      <a:r>
                        <a:rPr lang="en-US" sz="1400" dirty="0">
                          <a:effectLst/>
                        </a:rPr>
                        <a:t>, </a:t>
                      </a:r>
                      <a:r>
                        <a:rPr lang="en-US" sz="1400" b="1" dirty="0">
                          <a:effectLst/>
                        </a:rPr>
                        <a:t>planned audits + team effort split</a:t>
                      </a:r>
                      <a:r>
                        <a:rPr lang="en-US" sz="1400" dirty="0">
                          <a:effectLst/>
                        </a:rPr>
                        <a:t>, </a:t>
                      </a:r>
                      <a:r>
                        <a:rPr lang="en-US" sz="1400" b="1" dirty="0">
                          <a:effectLst/>
                        </a:rPr>
                        <a:t>historical assignments</a:t>
                      </a:r>
                      <a:r>
                        <a:rPr lang="en-US" sz="1400" dirty="0">
                          <a:effectLst/>
                        </a:rPr>
                        <a:t> (repeat domain fit), and </a:t>
                      </a:r>
                      <a:r>
                        <a:rPr lang="en-US" sz="1400" b="1" dirty="0">
                          <a:effectLst/>
                        </a:rPr>
                        <a:t>auditor interests.</a:t>
                      </a: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effectLst/>
                        </a:rPr>
                        <a:t>leave_tracker.xlsx; skills.xlsx; planned_audits.xlsx; planned_assignments.xlsx; interests.xlsx</a:t>
                      </a:r>
                      <a:endParaRPr lang="en-US" sz="1400" dirty="0"/>
                    </a:p>
                    <a:p>
                      <a:pPr marL="0" lvl="0" indent="0" algn="l">
                        <a:lnSpc>
                          <a:spcPct val="100000"/>
                        </a:lnSpc>
                        <a:buNone/>
                      </a:pPr>
                      <a:endParaRPr lang="en-US" sz="1400" dirty="0"/>
                    </a:p>
                  </a:txBody>
                  <a:tcPr anchor="ctr"/>
                </a:tc>
                <a:tc>
                  <a:txBody>
                    <a:bodyPr/>
                    <a:lstStyle/>
                    <a:p>
                      <a:pPr lvl="0">
                        <a:buNone/>
                      </a:pPr>
                      <a:r>
                        <a:rPr lang="en-US" sz="1400" b="0" i="0" u="none" strike="noStrike" baseline="0" noProof="0" dirty="0">
                          <a:solidFill>
                            <a:srgbClr val="000000"/>
                          </a:solidFill>
                          <a:effectLst/>
                          <a:latin typeface="Arial"/>
                          <a:cs typeface="Arial"/>
                        </a:rPr>
                        <a:t>Self-Service Dashboard</a:t>
                      </a:r>
                    </a:p>
                  </a:txBody>
                  <a:tcPr anchor="ctr"/>
                </a:tc>
                <a:tc>
                  <a:txBody>
                    <a:bodyPr/>
                    <a:lstStyle/>
                    <a:p>
                      <a:pPr marL="0" lvl="0" indent="0" algn="l">
                        <a:lnSpc>
                          <a:spcPct val="100000"/>
                        </a:lnSpc>
                        <a:buNone/>
                      </a:pPr>
                      <a:r>
                        <a:rPr lang="en-US" sz="1400" dirty="0"/>
                        <a:t>Ananya</a:t>
                      </a:r>
                    </a:p>
                  </a:txBody>
                  <a:tcPr anchor="ctr"/>
                </a:tc>
                <a:extLst>
                  <a:ext uri="{0D108BD9-81ED-4DB2-BD59-A6C34878D82A}">
                    <a16:rowId xmlns:a16="http://schemas.microsoft.com/office/drawing/2014/main" val="3958395167"/>
                  </a:ext>
                </a:extLst>
              </a:tr>
            </a:tbl>
          </a:graphicData>
        </a:graphic>
      </p:graphicFrame>
      <p:graphicFrame>
        <p:nvGraphicFramePr>
          <p:cNvPr id="7" name="Table 6">
            <a:extLst>
              <a:ext uri="{FF2B5EF4-FFF2-40B4-BE49-F238E27FC236}">
                <a16:creationId xmlns:a16="http://schemas.microsoft.com/office/drawing/2014/main" id="{DD7A3ADA-68CF-DB56-CD58-18D9E931E9EF}"/>
              </a:ext>
            </a:extLst>
          </p:cNvPr>
          <p:cNvGraphicFramePr>
            <a:graphicFrameLocks noGrp="1"/>
          </p:cNvGraphicFramePr>
          <p:nvPr/>
        </p:nvGraphicFramePr>
        <p:xfrm>
          <a:off x="7436643" y="1671637"/>
          <a:ext cx="6564750" cy="5786437"/>
        </p:xfrm>
        <a:graphic>
          <a:graphicData uri="http://schemas.openxmlformats.org/drawingml/2006/table">
            <a:tbl>
              <a:tblPr>
                <a:tableStyleId>{5940675A-B579-460E-94D1-54222C63F5DA}</a:tableStyleId>
              </a:tblPr>
              <a:tblGrid>
                <a:gridCol w="2801914">
                  <a:extLst>
                    <a:ext uri="{9D8B030D-6E8A-4147-A177-3AD203B41FA5}">
                      <a16:colId xmlns:a16="http://schemas.microsoft.com/office/drawing/2014/main" val="3889747047"/>
                    </a:ext>
                  </a:extLst>
                </a:gridCol>
                <a:gridCol w="1853683">
                  <a:extLst>
                    <a:ext uri="{9D8B030D-6E8A-4147-A177-3AD203B41FA5}">
                      <a16:colId xmlns:a16="http://schemas.microsoft.com/office/drawing/2014/main" val="3107663189"/>
                    </a:ext>
                  </a:extLst>
                </a:gridCol>
                <a:gridCol w="1909153">
                  <a:extLst>
                    <a:ext uri="{9D8B030D-6E8A-4147-A177-3AD203B41FA5}">
                      <a16:colId xmlns:a16="http://schemas.microsoft.com/office/drawing/2014/main" val="2795395917"/>
                    </a:ext>
                  </a:extLst>
                </a:gridCol>
              </a:tblGrid>
              <a:tr h="582962">
                <a:tc rowSpan="2">
                  <a:txBody>
                    <a:bodyPr/>
                    <a:lstStyle/>
                    <a:p>
                      <a:pPr>
                        <a:buNone/>
                      </a:pPr>
                      <a:r>
                        <a:rPr lang="en-GB" sz="1400" b="1" dirty="0">
                          <a:effectLst/>
                          <a:latin typeface="Arial"/>
                          <a:cs typeface="Arial"/>
                        </a:rPr>
                        <a:t>Use Case Name</a:t>
                      </a:r>
                    </a:p>
                  </a:txBody>
                  <a:tcPr anchor="ctr"/>
                </a:tc>
                <a:tc gridSpan="2">
                  <a:txBody>
                    <a:bodyPr/>
                    <a:lstStyle/>
                    <a:p>
                      <a:pPr algn="ctr">
                        <a:buNone/>
                      </a:pPr>
                      <a:r>
                        <a:rPr lang="en-US" sz="1600" b="1">
                          <a:solidFill>
                            <a:schemeClr val="tx1"/>
                          </a:solidFill>
                          <a:effectLst/>
                          <a:latin typeface="Arial"/>
                          <a:cs typeface="Arial"/>
                        </a:rPr>
                        <a:t>IAM Dashboard</a:t>
                      </a:r>
                    </a:p>
                  </a:txBody>
                  <a:tcPr anchor="ctr"/>
                </a:tc>
                <a:tc hMerge="1">
                  <a:txBody>
                    <a:bodyPr/>
                    <a:lstStyle/>
                    <a:p>
                      <a:pPr>
                        <a:buNone/>
                      </a:pPr>
                      <a:endParaRPr lang="en-GB" sz="1400" b="1" dirty="0">
                        <a:effectLst/>
                        <a:latin typeface="Arial"/>
                        <a:cs typeface="Arial"/>
                      </a:endParaRPr>
                    </a:p>
                  </a:txBody>
                  <a:tcPr anchor="ctr"/>
                </a:tc>
                <a:extLst>
                  <a:ext uri="{0D108BD9-81ED-4DB2-BD59-A6C34878D82A}">
                    <a16:rowId xmlns:a16="http://schemas.microsoft.com/office/drawing/2014/main" val="3879083366"/>
                  </a:ext>
                </a:extLst>
              </a:tr>
              <a:tr h="582962">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effectLst/>
                          <a:latin typeface="Arial"/>
                          <a:cs typeface="Arial"/>
                        </a:rPr>
                        <a:t>Due Date</a:t>
                      </a:r>
                      <a:endParaRPr lang="en-GB" sz="1400" dirty="0">
                        <a:effectLst/>
                        <a:latin typeface="Arial"/>
                        <a:cs typeface="Arial"/>
                      </a:endParaRPr>
                    </a:p>
                  </a:txBody>
                  <a:tcPr anchor="ctr"/>
                </a:tc>
                <a:tc>
                  <a:txBody>
                    <a:bodyPr/>
                    <a:lstStyle/>
                    <a:p>
                      <a:pPr>
                        <a:buNone/>
                      </a:pPr>
                      <a:r>
                        <a:rPr lang="en-US" sz="1400" b="1" dirty="0">
                          <a:effectLst/>
                          <a:latin typeface="Arial"/>
                          <a:cs typeface="Arial"/>
                        </a:rPr>
                        <a:t>Status</a:t>
                      </a:r>
                      <a:endParaRPr lang="en-GB" sz="1400" b="1" dirty="0">
                        <a:effectLst/>
                        <a:latin typeface="Arial"/>
                        <a:cs typeface="Arial"/>
                      </a:endParaRPr>
                    </a:p>
                  </a:txBody>
                  <a:tcPr anchor="ctr"/>
                </a:tc>
                <a:extLst>
                  <a:ext uri="{0D108BD9-81ED-4DB2-BD59-A6C34878D82A}">
                    <a16:rowId xmlns:a16="http://schemas.microsoft.com/office/drawing/2014/main" val="3202892240"/>
                  </a:ext>
                </a:extLst>
              </a:tr>
              <a:tr h="863647">
                <a:tc>
                  <a:txBody>
                    <a:bodyPr/>
                    <a:lstStyle/>
                    <a:p>
                      <a:pPr>
                        <a:buNone/>
                      </a:pPr>
                      <a:r>
                        <a:rPr lang="en-US" sz="1400" b="1" dirty="0">
                          <a:effectLst/>
                          <a:latin typeface="Arial"/>
                          <a:cs typeface="Arial"/>
                        </a:rPr>
                        <a:t>Stakeholder Engagement</a:t>
                      </a:r>
                      <a:endParaRPr lang="en-GB" sz="1400" b="1" dirty="0">
                        <a:effectLst/>
                        <a:latin typeface="Arial"/>
                        <a:cs typeface="Arial"/>
                      </a:endParaRPr>
                    </a:p>
                  </a:txBody>
                  <a:tcPr anchor="ctr"/>
                </a:tc>
                <a:tc>
                  <a:txBody>
                    <a:bodyPr/>
                    <a:lstStyle/>
                    <a:p>
                      <a:pPr>
                        <a:buNone/>
                      </a:pPr>
                      <a:r>
                        <a:rPr lang="en-US" sz="1400">
                          <a:effectLst/>
                          <a:latin typeface="Arial"/>
                          <a:cs typeface="Arial"/>
                        </a:rPr>
                        <a:t>11th June 2026</a:t>
                      </a:r>
                      <a:endParaRPr lang="en-GB" sz="1400">
                        <a:effectLst/>
                        <a:latin typeface="Arial"/>
                        <a:cs typeface="Arial"/>
                      </a:endParaRPr>
                    </a:p>
                  </a:txBody>
                  <a:tcPr anchor="ctr"/>
                </a:tc>
                <a:tc>
                  <a:txBody>
                    <a:bodyPr/>
                    <a:lstStyle/>
                    <a:p>
                      <a:pPr lvl="0">
                        <a:buNone/>
                      </a:pPr>
                      <a:r>
                        <a:rPr lang="en-US" sz="1400" dirty="0">
                          <a:effectLst/>
                          <a:latin typeface="Arial"/>
                          <a:cs typeface="Arial"/>
                        </a:rPr>
                        <a:t>WIP</a:t>
                      </a:r>
                      <a:endParaRPr lang="en-GB" sz="1400" dirty="0">
                        <a:effectLst/>
                        <a:latin typeface="Arial"/>
                        <a:cs typeface="Arial"/>
                      </a:endParaRPr>
                    </a:p>
                  </a:txBody>
                  <a:tcPr anchor="ctr"/>
                </a:tc>
                <a:extLst>
                  <a:ext uri="{0D108BD9-81ED-4DB2-BD59-A6C34878D82A}">
                    <a16:rowId xmlns:a16="http://schemas.microsoft.com/office/drawing/2014/main" val="1046324532"/>
                  </a:ext>
                </a:extLst>
              </a:tr>
              <a:tr h="1101150">
                <a:tc>
                  <a:txBody>
                    <a:bodyPr/>
                    <a:lstStyle/>
                    <a:p>
                      <a:pPr>
                        <a:buNone/>
                      </a:pPr>
                      <a:r>
                        <a:rPr lang="en-US" sz="1400" b="1" dirty="0">
                          <a:effectLst/>
                          <a:latin typeface="Arial"/>
                          <a:cs typeface="Arial"/>
                        </a:rPr>
                        <a:t>Received Raw Data</a:t>
                      </a:r>
                      <a:endParaRPr lang="en-GB" sz="1400" b="1" dirty="0">
                        <a:effectLst/>
                        <a:latin typeface="Arial"/>
                        <a:cs typeface="Arial"/>
                      </a:endParaRPr>
                    </a:p>
                  </a:txBody>
                  <a:tcPr anchor="ctr"/>
                </a:tc>
                <a:tc>
                  <a:txBody>
                    <a:bodyPr/>
                    <a:lstStyle/>
                    <a:p>
                      <a:pPr marL="0" lvl="0" indent="0" algn="l" rtl="0" eaLnBrk="1" latinLnBrk="0" hangingPunct="1">
                        <a:lnSpc>
                          <a:spcPct val="100000"/>
                        </a:lnSpc>
                        <a:buNone/>
                      </a:pPr>
                      <a:r>
                        <a:rPr lang="en-US" sz="1400" kern="1200">
                          <a:solidFill>
                            <a:schemeClr val="tx1"/>
                          </a:solidFill>
                          <a:effectLst/>
                          <a:latin typeface="Arial"/>
                          <a:ea typeface="+mn-ea"/>
                          <a:cs typeface="Arial"/>
                        </a:rPr>
                        <a:t>24th June 2026</a:t>
                      </a:r>
                    </a:p>
                  </a:txBody>
                  <a:tcPr anchor="ctr"/>
                </a:tc>
                <a:tc>
                  <a:txBody>
                    <a:bodyPr/>
                    <a:lstStyle/>
                    <a:p>
                      <a:pPr lvl="0">
                        <a:buNone/>
                      </a:pPr>
                      <a:r>
                        <a:rPr lang="en-US" sz="1400" b="0" i="0" u="none" strike="noStrike" baseline="0" noProof="0" dirty="0">
                          <a:solidFill>
                            <a:srgbClr val="000000"/>
                          </a:solidFill>
                          <a:effectLst/>
                          <a:latin typeface="Arial"/>
                          <a:cs typeface="Arial"/>
                        </a:rPr>
                        <a:t>Yet to receive</a:t>
                      </a:r>
                    </a:p>
                  </a:txBody>
                  <a:tcPr anchor="ctr"/>
                </a:tc>
                <a:extLst>
                  <a:ext uri="{0D108BD9-81ED-4DB2-BD59-A6C34878D82A}">
                    <a16:rowId xmlns:a16="http://schemas.microsoft.com/office/drawing/2014/main" val="204290577"/>
                  </a:ext>
                </a:extLst>
              </a:tr>
              <a:tr h="1101150">
                <a:tc>
                  <a:txBody>
                    <a:bodyPr/>
                    <a:lstStyle/>
                    <a:p>
                      <a:pPr lvl="0">
                        <a:buNone/>
                      </a:pPr>
                      <a:r>
                        <a:rPr lang="en-US" sz="1400" b="1">
                          <a:effectLst/>
                          <a:latin typeface="Arial"/>
                          <a:cs typeface="Arial"/>
                        </a:rPr>
                        <a:t>Reach out to DA Team</a:t>
                      </a:r>
                      <a:endParaRPr lang="en-US" sz="1400" b="1" dirty="0">
                        <a:effectLst/>
                        <a:latin typeface="Arial"/>
                        <a:cs typeface="Arial"/>
                      </a:endParaRPr>
                    </a:p>
                  </a:txBody>
                  <a:tcPr anchor="ctr"/>
                </a:tc>
                <a:tc>
                  <a:txBody>
                    <a:bodyPr/>
                    <a:lstStyle/>
                    <a:p>
                      <a:pPr marL="0" lvl="0" indent="0" algn="l">
                        <a:lnSpc>
                          <a:spcPct val="100000"/>
                        </a:lnSpc>
                        <a:buNone/>
                      </a:pPr>
                      <a:r>
                        <a:rPr lang="en-US" sz="1400" kern="1200">
                          <a:solidFill>
                            <a:schemeClr val="tx1"/>
                          </a:solidFill>
                          <a:effectLst/>
                          <a:latin typeface="Arial"/>
                          <a:ea typeface="+mn-ea"/>
                          <a:cs typeface="Arial"/>
                        </a:rPr>
                        <a:t>30th June 2026</a:t>
                      </a:r>
                      <a:endParaRPr lang="en-US" sz="1400" kern="1200" dirty="0">
                        <a:solidFill>
                          <a:schemeClr val="tx1"/>
                        </a:solidFill>
                        <a:effectLst/>
                        <a:latin typeface="Arial"/>
                        <a:ea typeface="+mn-ea"/>
                        <a:cs typeface="Arial"/>
                      </a:endParaRPr>
                    </a:p>
                  </a:txBody>
                  <a:tcPr anchor="ctr"/>
                </a:tc>
                <a:tc>
                  <a:txBody>
                    <a:bodyPr/>
                    <a:lstStyle/>
                    <a:p>
                      <a:pPr lvl="0">
                        <a:buNone/>
                      </a:pPr>
                      <a:r>
                        <a:rPr lang="en-US" sz="1400" b="0" i="0" u="none" strike="noStrike" baseline="0" noProof="0">
                          <a:solidFill>
                            <a:srgbClr val="000000"/>
                          </a:solidFill>
                          <a:effectLst/>
                          <a:latin typeface="Arial"/>
                          <a:cs typeface="Arial"/>
                        </a:rPr>
                        <a:t>Not Started</a:t>
                      </a:r>
                      <a:endParaRPr lang="en-US" sz="1400" b="0" i="0" u="none" strike="noStrike" baseline="0" noProof="0" dirty="0">
                        <a:solidFill>
                          <a:srgbClr val="000000"/>
                        </a:solidFill>
                        <a:effectLst/>
                        <a:latin typeface="Arial"/>
                        <a:cs typeface="Arial"/>
                      </a:endParaRPr>
                    </a:p>
                  </a:txBody>
                  <a:tcPr anchor="ctr"/>
                </a:tc>
                <a:extLst>
                  <a:ext uri="{0D108BD9-81ED-4DB2-BD59-A6C34878D82A}">
                    <a16:rowId xmlns:a16="http://schemas.microsoft.com/office/drawing/2014/main" val="2084421089"/>
                  </a:ext>
                </a:extLst>
              </a:tr>
              <a:tr h="712509">
                <a:tc>
                  <a:txBody>
                    <a:bodyPr/>
                    <a:lstStyle/>
                    <a:p>
                      <a:pPr>
                        <a:buNone/>
                      </a:pPr>
                      <a:r>
                        <a:rPr lang="en-US" sz="1400" b="1" dirty="0">
                          <a:effectLst/>
                          <a:latin typeface="Arial"/>
                          <a:cs typeface="Arial"/>
                        </a:rPr>
                        <a:t>PoC</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26</a:t>
                      </a:r>
                      <a:r>
                        <a:rPr lang="en-US" sz="1400" kern="1200" baseline="30000" dirty="0">
                          <a:solidFill>
                            <a:schemeClr val="tx1"/>
                          </a:solidFill>
                          <a:effectLst/>
                          <a:latin typeface="Arial"/>
                          <a:ea typeface="+mn-ea"/>
                          <a:cs typeface="Arial"/>
                        </a:rPr>
                        <a:t>th</a:t>
                      </a:r>
                      <a:r>
                        <a:rPr lang="en-US" sz="1400" kern="1200" dirty="0">
                          <a:solidFill>
                            <a:schemeClr val="tx1"/>
                          </a:solidFill>
                          <a:effectLst/>
                          <a:latin typeface="Arial"/>
                          <a:ea typeface="+mn-ea"/>
                          <a:cs typeface="Arial"/>
                        </a:rPr>
                        <a:t> June 2026</a:t>
                      </a:r>
                    </a:p>
                  </a:txBody>
                  <a:tcPr anchor="ctr"/>
                </a:tc>
                <a:tc>
                  <a:txBody>
                    <a:bodyPr/>
                    <a:lstStyle/>
                    <a:p>
                      <a:pPr lvl="0">
                        <a:buNone/>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695297088"/>
                  </a:ext>
                </a:extLst>
              </a:tr>
              <a:tr h="8420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effectLst/>
                          <a:latin typeface="Arial"/>
                          <a:cs typeface="Arial"/>
                        </a:rPr>
                        <a:t>Implementation / Go-live</a:t>
                      </a:r>
                      <a:endParaRPr lang="en-GB" sz="1400" b="1" dirty="0">
                        <a:effectLst/>
                        <a:latin typeface="Arial"/>
                        <a:cs typeface="Arial"/>
                      </a:endParaRPr>
                    </a:p>
                  </a:txBody>
                  <a:tcPr anchor="ctr"/>
                </a:tc>
                <a:tc>
                  <a:txBody>
                    <a:bodyPr/>
                    <a:lstStyle/>
                    <a:p>
                      <a:pPr marL="0" lvl="0" indent="0" algn="l" defTabSz="914400" rtl="0" eaLnBrk="1" latinLnBrk="0" hangingPunct="1">
                        <a:lnSpc>
                          <a:spcPct val="100000"/>
                        </a:lnSpc>
                        <a:buNone/>
                      </a:pPr>
                      <a:r>
                        <a:rPr lang="en-US" sz="1400" kern="1200" dirty="0">
                          <a:solidFill>
                            <a:schemeClr val="tx1"/>
                          </a:solidFill>
                          <a:effectLst/>
                          <a:latin typeface="Arial"/>
                          <a:ea typeface="+mn-ea"/>
                          <a:cs typeface="Arial"/>
                        </a:rPr>
                        <a:t>31</a:t>
                      </a:r>
                      <a:r>
                        <a:rPr lang="en-US" sz="1400" kern="1200" baseline="30000" dirty="0">
                          <a:solidFill>
                            <a:schemeClr val="tx1"/>
                          </a:solidFill>
                          <a:effectLst/>
                          <a:latin typeface="Arial"/>
                          <a:ea typeface="+mn-ea"/>
                          <a:cs typeface="Arial"/>
                        </a:rPr>
                        <a:t>st</a:t>
                      </a:r>
                      <a:r>
                        <a:rPr lang="en-US" sz="1400" kern="1200" dirty="0">
                          <a:solidFill>
                            <a:schemeClr val="tx1"/>
                          </a:solidFill>
                          <a:effectLst/>
                          <a:latin typeface="Arial"/>
                          <a:ea typeface="+mn-ea"/>
                          <a:cs typeface="Arial"/>
                        </a:rPr>
                        <a:t> July 2026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baseline="0" noProof="0" dirty="0">
                          <a:solidFill>
                            <a:srgbClr val="000000"/>
                          </a:solidFill>
                          <a:effectLst/>
                          <a:latin typeface="Arial"/>
                          <a:cs typeface="Arial"/>
                        </a:rPr>
                        <a:t>Not Started</a:t>
                      </a:r>
                    </a:p>
                  </a:txBody>
                  <a:tcPr anchor="ctr"/>
                </a:tc>
                <a:extLst>
                  <a:ext uri="{0D108BD9-81ED-4DB2-BD59-A6C34878D82A}">
                    <a16:rowId xmlns:a16="http://schemas.microsoft.com/office/drawing/2014/main" val="1582893317"/>
                  </a:ext>
                </a:extLst>
              </a:tr>
            </a:tbl>
          </a:graphicData>
        </a:graphic>
      </p:graphicFrame>
    </p:spTree>
    <p:extLst>
      <p:ext uri="{BB962C8B-B14F-4D97-AF65-F5344CB8AC3E}">
        <p14:creationId xmlns:p14="http://schemas.microsoft.com/office/powerpoint/2010/main" val="1475602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a666925-d21d-4132-9b0c-621dbcdc61ff">
      <Terms xmlns="http://schemas.microsoft.com/office/infopath/2007/PartnerControls"/>
    </lcf76f155ced4ddcb4097134ff3c332f>
    <TaxCatchAll xmlns="1b6b2269-d8e2-4bf0-9311-c162d5b96d5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B12079E06D064BA0E9374C85AB59DE" ma:contentTypeVersion="15" ma:contentTypeDescription="Create a new document." ma:contentTypeScope="" ma:versionID="f90c40aaf87ecc97bc4b8680033b59c2">
  <xsd:schema xmlns:xsd="http://www.w3.org/2001/XMLSchema" xmlns:xs="http://www.w3.org/2001/XMLSchema" xmlns:p="http://schemas.microsoft.com/office/2006/metadata/properties" xmlns:ns2="3a666925-d21d-4132-9b0c-621dbcdc61ff" xmlns:ns3="1b6b2269-d8e2-4bf0-9311-c162d5b96d57" targetNamespace="http://schemas.microsoft.com/office/2006/metadata/properties" ma:root="true" ma:fieldsID="b65a9315d2e4e4fa6506dbb11cf1ed8e" ns2:_="" ns3:_="">
    <xsd:import namespace="3a666925-d21d-4132-9b0c-621dbcdc61ff"/>
    <xsd:import namespace="1b6b2269-d8e2-4bf0-9311-c162d5b96d5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666925-d21d-4132-9b0c-621dbcdc61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7938364-3eac-4ac3-8abf-dc336b78581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6b2269-d8e2-4bf0-9311-c162d5b96d5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1d2b3b01-f9e2-4ce1-be01-c6f8bdc90c8b}" ma:internalName="TaxCatchAll" ma:showField="CatchAllData" ma:web="1b6b2269-d8e2-4bf0-9311-c162d5b96d5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DE7F18-3CC6-4C5F-8560-7B3281C7574D}">
  <ds:schemaRefs>
    <ds:schemaRef ds:uri="http://schemas.microsoft.com/sharepoint/v3/contenttype/forms"/>
  </ds:schemaRefs>
</ds:datastoreItem>
</file>

<file path=customXml/itemProps2.xml><?xml version="1.0" encoding="utf-8"?>
<ds:datastoreItem xmlns:ds="http://schemas.openxmlformats.org/officeDocument/2006/customXml" ds:itemID="{36D3DC47-1E80-4660-9880-EA1378D87AF0}">
  <ds:schemaRefs>
    <ds:schemaRef ds:uri="1b6b2269-d8e2-4bf0-9311-c162d5b96d57"/>
    <ds:schemaRef ds:uri="http://www.w3.org/XML/1998/namespace"/>
    <ds:schemaRef ds:uri="http://purl.org/dc/terms/"/>
    <ds:schemaRef ds:uri="3a666925-d21d-4132-9b0c-621dbcdc61ff"/>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 ds:uri="http://purl.org/dc/dcmitype/"/>
    <ds:schemaRef ds:uri="http://purl.org/dc/elements/1.1/"/>
  </ds:schemaRefs>
</ds:datastoreItem>
</file>

<file path=customXml/itemProps3.xml><?xml version="1.0" encoding="utf-8"?>
<ds:datastoreItem xmlns:ds="http://schemas.openxmlformats.org/officeDocument/2006/customXml" ds:itemID="{F663BFD3-4371-4AF3-9A88-A5F975E8FA8C}">
  <ds:schemaRefs>
    <ds:schemaRef ds:uri="1b6b2269-d8e2-4bf0-9311-c162d5b96d57"/>
    <ds:schemaRef ds:uri="3a666925-d21d-4132-9b0c-621dbcdc61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bbfc019-7f88-4fb6-96d6-94ffadd4b772}" enabled="1" method="Privileged" siteId="{b44900f1-2def-4c3b-9ec6-9020d604e19e}" removed="0"/>
</clbl:labelList>
</file>

<file path=docProps/app.xml><?xml version="1.0" encoding="utf-8"?>
<Properties xmlns="http://schemas.openxmlformats.org/officeDocument/2006/extended-properties" xmlns:vt="http://schemas.openxmlformats.org/officeDocument/2006/docPropsVTypes">
  <TotalTime>128</TotalTime>
  <Words>1299</Words>
  <Application>Microsoft Office PowerPoint</Application>
  <PresentationFormat>Custom</PresentationFormat>
  <Paragraphs>243</Paragraphs>
  <Slides>13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Singh, Raghvendra Pratap</dc:creator>
  <cp:lastModifiedBy>Aithal, Ananya</cp:lastModifiedBy>
  <cp:revision>391</cp:revision>
  <dcterms:created xsi:type="dcterms:W3CDTF">2026-03-09T09:45:27Z</dcterms:created>
  <dcterms:modified xsi:type="dcterms:W3CDTF">2026-05-15T05:51:09Z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Theme:3</vt:lpwstr>
  </property>
  <property fmtid="{D5CDD505-2E9C-101B-9397-08002B2CF9AE}" pid="3" name="ClassificationContentMarkingHeaderText">
    <vt:lpwstr>PUBLIC</vt:lpwstr>
  </property>
  <property fmtid="{D5CDD505-2E9C-101B-9397-08002B2CF9AE}" pid="4" name="ContentTypeId">
    <vt:lpwstr>0x01010007B12079E06D064BA0E9374C85AB59DE</vt:lpwstr>
  </property>
  <property fmtid="{D5CDD505-2E9C-101B-9397-08002B2CF9AE}" pid="5" name="MediaServiceImageTags">
    <vt:lpwstr/>
  </property>
</Properties>
</file>
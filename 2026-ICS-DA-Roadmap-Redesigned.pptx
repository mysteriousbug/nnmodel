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1148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11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 Data Analytics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Automation Roadmap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926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&amp; Cybersecurity Audit  |  Group Internal Audit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Raghvendra Pratap Singh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4160520"/>
            <a:ext cx="256032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187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0040" y="4526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Audit Use Cases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4160520"/>
            <a:ext cx="256032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4187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154680" y="4526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Automation Use Cases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9320" y="4160520"/>
            <a:ext cx="256032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4187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89320" y="4526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ICS Domain DAs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0" y="0"/>
            <a:ext cx="54864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ICS
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Audit-Related
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Use Cases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371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13533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Authentication Services (CAS)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228600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0" y="2267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Management (PAM)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63440" y="320040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0" y="3182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&amp; Malware Protection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3891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Group Internal Audit  ·  ICS Audit Team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Authentication Services (CAS)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2651760" cy="301752"/>
          </a:xfrm>
          <a:prstGeom prst="roundRect">
            <a:avLst>
              <a:gd name="adj" fmla="val 1515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AUDIT: 2026-GT-1111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54680" y="685800"/>
            <a:ext cx="2651760" cy="301752"/>
          </a:xfrm>
          <a:prstGeom prst="roundRect">
            <a:avLst>
              <a:gd name="adj" fmla="val 1515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6858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FEB 16 – MAY 27,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89320" y="685800"/>
            <a:ext cx="2651760" cy="301752"/>
          </a:xfrm>
          <a:prstGeom prst="roundRect">
            <a:avLst>
              <a:gd name="adj" fmla="val 1515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6858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 MAN-DAYS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" y="1261872"/>
            <a:ext cx="28346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1261872"/>
            <a:ext cx="2834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89888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9808" y="13898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Compliance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38328" y="1847088"/>
            <a:ext cx="26060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coverage of authentication services across all applications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non-compliant or missing SSO integrations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72968" y="1261872"/>
            <a:ext cx="28346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172968" y="1261872"/>
            <a:ext cx="2834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8988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21608" y="13898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310128" y="1847088"/>
            <a:ext cx="26060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MFA deployment across all onboarded applications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mandatory MFA enforcement policies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44768" y="1261872"/>
            <a:ext cx="28346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44768" y="1261872"/>
            <a:ext cx="2834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8988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93408" y="13898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MFA (DMFA)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281928" y="1847088"/>
            <a:ext cx="26060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Windows Hello for Business (WHB) deployment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2FA compliance on laptops/desktops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WHB enrollment rates and gaps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0" y="4069080"/>
            <a:ext cx="914400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2004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DATA SOURCES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320040" y="4407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CMDB  ·  Entra (SSO)  ·  ForgeRock (MFA)  ·  Windows Hello for Business  ·  Active Directory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486400" y="4160520"/>
            <a:ext cx="36576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66928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KEY METRICS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5669280" y="4407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App onboarding rate  ·  MFA coverage %  ·  DMFA compliance %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Management (PAM)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2651760" cy="301752"/>
          </a:xfrm>
          <a:prstGeom prst="roundRect">
            <a:avLst>
              <a:gd name="adj" fmla="val 1515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AUDIT: 2026-GT-2222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54680" y="685800"/>
            <a:ext cx="2651760" cy="301752"/>
          </a:xfrm>
          <a:prstGeom prst="roundRect">
            <a:avLst>
              <a:gd name="adj" fmla="val 1515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6858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APR 20 – JUL 24,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89320" y="685800"/>
            <a:ext cx="2651760" cy="301752"/>
          </a:xfrm>
          <a:prstGeom prst="roundRect">
            <a:avLst>
              <a:gd name="adj" fmla="val 1515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6858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15 MAN-DAYS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" y="1261872"/>
            <a:ext cx="4251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1261872"/>
            <a:ext cx="384048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261872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6656" y="1353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Session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16642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anomalous sessions (&gt;12 hours)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excessive PID withdrawals (&gt;5/day)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access during approved block leave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261872"/>
            <a:ext cx="4251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261872"/>
            <a:ext cx="384048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261872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38928" y="1353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Approval &amp; Release Controls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38928" y="16642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segregation of duties (approver ≠ requestor)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approval workflows end-to-end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" y="2724912"/>
            <a:ext cx="4251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2724912"/>
            <a:ext cx="384048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" y="2724912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656" y="2816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Access Assignment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" y="312724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access grouping appropriateness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principle of least privilege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724912"/>
            <a:ext cx="4251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724912"/>
            <a:ext cx="384048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724912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38928" y="2816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Rotation Compliance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38928" y="312724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rotation frequency adherence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post-use password changes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069080"/>
            <a:ext cx="914400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DATA SOURCES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0040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OneVault  ·  SuccessFactors  ·  OneCert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4160520"/>
            <a:ext cx="36576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KEY METRICS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54880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Session duration  ·  Withdrawal frequency  ·  SoD compliance  ·  Rotation cycles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&amp; Malware Protection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2651760" cy="301752"/>
          </a:xfrm>
          <a:prstGeom prst="roundRect">
            <a:avLst>
              <a:gd name="adj" fmla="val 1515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AUDIT: 2026-GT-3333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54680" y="685800"/>
            <a:ext cx="2651760" cy="301752"/>
          </a:xfrm>
          <a:prstGeom prst="roundRect">
            <a:avLst>
              <a:gd name="adj" fmla="val 1515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6858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JUN 1 – AUG 21,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89320" y="685800"/>
            <a:ext cx="2651760" cy="301752"/>
          </a:xfrm>
          <a:prstGeom prst="roundRect">
            <a:avLst>
              <a:gd name="adj" fmla="val 1515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6858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 MAN-DAYS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" y="1261872"/>
            <a:ext cx="8732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1261872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Desktops, Laptops &amp; Server Protection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158191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company desktops protected by approved anti-malware solution  ·  Verify all servers protected by approved anti-malware solution  ·  Assess MAC devices and alternate endpoint protection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1168" y="2157984"/>
            <a:ext cx="8732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2157984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194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Analysis by Technology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247802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SentinelOne (S1) — server deployment  ·  Microsoft Defender for Endpoint (MDE) — desktops/laptops  ·  Intune — mobile device management  ·  Tanium — asset inventory cross-check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1168" y="3054096"/>
            <a:ext cx="8732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1168" y="3054096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090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Gaps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" y="33741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unprotected or non-compliant endpoints  ·  Detect devices with lapsed or outdated protection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069080"/>
            <a:ext cx="914400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DATA SOURCES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0040" y="4407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SentinelOne (S1)  ·  Microsoft Defender for Endpoint  ·  Intune  ·  CMDB  ·  Tanium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0" y="4160520"/>
            <a:ext cx="36576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KEY METRICS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69280" y="4407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Endpoint coverage %  ·  Compliance %  ·  Protection gaps  ·  Device inventory accuracy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0" y="0"/>
            <a:ext cx="54864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
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
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663440" y="182880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18105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UC-01: Agentic AI Audit Workpaper Assistant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274320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0" y="2724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UC-02: Audit Scheduling Assistant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891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AI-Powered Audit Tooling  ·  Scheduling &amp; Resourcing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  ·  Agentic AI Audit Workpaper Assistant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2148840" cy="301752"/>
          </a:xfrm>
          <a:prstGeom prst="roundRect">
            <a:avLst>
              <a:gd name="adj" fmla="val 1515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High Effort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51760" y="685800"/>
            <a:ext cx="2148840" cy="301752"/>
          </a:xfrm>
          <a:prstGeom prst="roundRect">
            <a:avLst>
              <a:gd name="adj" fmla="val 1515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68580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High Impact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83480" y="685800"/>
            <a:ext cx="2148840" cy="301752"/>
          </a:xfrm>
          <a:prstGeom prst="roundRect">
            <a:avLst>
              <a:gd name="adj" fmla="val 1515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68580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Analytics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" y="1261872"/>
            <a:ext cx="230428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1261872"/>
            <a:ext cx="23042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34416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1664208"/>
            <a:ext cx="21214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spend significant time manually drafting RCMs, workpapers, RFIs, and report sections. Walkthrough transcripts must be manually captured and structured, leading to inefficiencies and risk of missed observations.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78608" y="1261872"/>
            <a:ext cx="230428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78608" y="1261872"/>
            <a:ext cx="23042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0048" y="134416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70048" y="1664208"/>
            <a:ext cx="21214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system that consumes walkthrough transcripts and audit data to automatically draft RCMs, populate workpapers, generate report sections, and create RFIs. Human-in-the-loop review ensures accuracy and auditability.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56048" y="1261872"/>
            <a:ext cx="175564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56048" y="1261872"/>
            <a:ext cx="17556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1344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47488" y="1664208"/>
            <a:ext cx="15727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reduction in documentation effort. Improved consistency of audit language. Faster RFI cycles. Better capture of walkthrough evidence.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84848" y="1261872"/>
            <a:ext cx="116128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84848" y="1261872"/>
            <a:ext cx="11612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1344168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76288" y="1664208"/>
            <a:ext cx="9784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 ·  Fieldwork  ·  Reporting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19288" y="1261872"/>
            <a:ext cx="125272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19288" y="1261872"/>
            <a:ext cx="125272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134416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1664208"/>
            <a:ext cx="10698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transcripts  ·  Prior workpapers  ·  RCM templates  ·  Control descriptions  ·  Audit timelines  ·  Jira tickets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  ·  Audit Scheduling Assistant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2560320" cy="301752"/>
          </a:xfrm>
          <a:prstGeom prst="roundRect">
            <a:avLst>
              <a:gd name="adj" fmla="val 1515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Medium Effort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63240" y="685800"/>
            <a:ext cx="2560320" cy="301752"/>
          </a:xfrm>
          <a:prstGeom prst="roundRect">
            <a:avLst>
              <a:gd name="adj" fmla="val 1515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6858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High Impact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06440" y="685800"/>
            <a:ext cx="2560320" cy="301752"/>
          </a:xfrm>
          <a:prstGeom prst="roundRect">
            <a:avLst>
              <a:gd name="adj" fmla="val 1515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6858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Self-Service Dashboard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" y="1261872"/>
            <a:ext cx="230428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1261872"/>
            <a:ext cx="23042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34416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1664208"/>
            <a:ext cx="21214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scheduling and resourcing is currently manual and time-consuming. Planners must reconcile auditor leave, skills/certifications, planned audits + team effort split, historical assignments (repeat domain fit), and auditor interests.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78608" y="1261872"/>
            <a:ext cx="230428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78608" y="1261872"/>
            <a:ext cx="23042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0048" y="134416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70048" y="1664208"/>
            <a:ext cx="21214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scheduling assistant that ingests required dependencies, normalises auditor roles (SAM/AM/Co-Source), and produces recommended staffing per audit with transparent rationale.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56048" y="1261872"/>
            <a:ext cx="175564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56048" y="1261872"/>
            <a:ext cx="17556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13441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47488" y="1664208"/>
            <a:ext cx="15727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more consistent scheduling. Better skill-to-audit alignment. Reduced leave conflicts. Improved continuity for repeated audits. Fairness and transparency by explicitly balancing interests and prior domain exposure.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84848" y="1261872"/>
            <a:ext cx="116128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84848" y="1261872"/>
            <a:ext cx="11612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1344168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76288" y="1664208"/>
            <a:ext cx="9784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19288" y="1261872"/>
            <a:ext cx="1252728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19288" y="1261872"/>
            <a:ext cx="125272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134416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1664208"/>
            <a:ext cx="10698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leave_tracker.xlsx  ·  skills.xlsx  ·  planned_audits.xlsx  ·  planned_assignments.xlsx  ·  interests.xlsx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0" y="0"/>
            <a:ext cx="54864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
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
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371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13533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Dashboard  (Indraneel)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212140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0" y="2103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Dashboard  (Vijay)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87121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0" y="28529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Workpaper Assistant  (Ananya)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362102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0" y="36027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UC-02: Audit Scheduling Assistant  (Ananya)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912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All SAMs will have a performance goal to create DA use cases for their domain.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ICS Domain DA Use Cases  ·  Finalized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All SAMs will have a performance goal to create DA use cases for their domain.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41148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0584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97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536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D9488"/>
                </a:solidFill>
              </a:rPr>
              <a:t>PROBLEM STATEMENT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7373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data extraction for audits is manual and stakeholder-dependent, leading to delays and inconsistent access across audit teams.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999232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090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D9488"/>
                </a:solidFill>
              </a:rPr>
              <a:t>DATA REPOSITORY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7472" y="32918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Bench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4005072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4096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D9488"/>
                </a:solidFill>
              </a:rPr>
              <a:t>OWNER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7472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Indraneel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59152" y="4096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D9488"/>
                </a:solidFill>
              </a:rPr>
              <a:t>TYPE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359152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Self-Service Dashboard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1005840"/>
            <a:ext cx="4434840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02412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4B8A6"/>
                </a:solidFill>
              </a:rPr>
              <a:t>IAM DASHBOARD TRACKER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26280" y="1444752"/>
            <a:ext cx="443484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444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Milestone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03720" y="14447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Due Date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046720" y="14447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Status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26280" y="1764792"/>
            <a:ext cx="4434840" cy="5212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8013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Stakeholder Engagement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12280" y="1801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29 May 2026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55280" y="1865376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1865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WIP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26280" y="2295144"/>
            <a:ext cx="4434840" cy="5212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Received Raw Data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Jun 2026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955280" y="239572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2395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Yet to receive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26280" y="2825496"/>
            <a:ext cx="4434840" cy="5212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28620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Reach out to DA Team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12280" y="28620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17 Jun 2026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55280" y="292608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2926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Not Started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26280" y="3355848"/>
            <a:ext cx="4434840" cy="5212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9242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PoC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12280" y="33924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26 Jun 2026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55280" y="345643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3456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Not Started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26280" y="3886200"/>
            <a:ext cx="4434840" cy="5212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392277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Implementation / Go-live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12280" y="39227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31 Jul 2026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955280" y="3986784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39867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Not Started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ICS Domain DA Use Cases  ·  Finalized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All SAMs will have a performance goal to create DA use cases for their domain.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41148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0584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97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536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D9488"/>
                </a:solidFill>
              </a:rPr>
              <a:t>PROBLEM STATEMENT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7373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onboarding for central authentication is tracked manually, causing visibility gaps across IAM tools.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999232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090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D9488"/>
                </a:solidFill>
              </a:rPr>
              <a:t>DATA REPOSITORY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7472" y="32918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· Entra · AD · MFA list · SSO list · OneCert · OneVault dashboard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4005072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4096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D9488"/>
                </a:solidFill>
              </a:rPr>
              <a:t>OWNER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7472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Vijay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59152" y="4096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D9488"/>
                </a:solidFill>
              </a:rPr>
              <a:t>TYPE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359152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Self-Service Dashboard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1005840"/>
            <a:ext cx="4434840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02412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4B8A6"/>
                </a:solidFill>
              </a:rPr>
              <a:t>IAM DASHBOARD TRACKER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26280" y="1444752"/>
            <a:ext cx="443484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444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Milestone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03720" y="14447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Due Date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046720" y="14447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Status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26280" y="1764792"/>
            <a:ext cx="4434840" cy="5212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8013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Stakeholder Engagement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12280" y="1801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Jun 2026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55280" y="1865376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1865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WIP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26280" y="2295144"/>
            <a:ext cx="4434840" cy="5212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Received Raw Data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24 Jun 2026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955280" y="239572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2395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Yet to receive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26280" y="2825496"/>
            <a:ext cx="4434840" cy="5212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28620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Reach out to DA Team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12280" y="28620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30 Jun 2026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55280" y="292608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2926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Not Started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26280" y="3355848"/>
            <a:ext cx="4434840" cy="5212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9242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PoC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12280" y="33924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26 Jun 2026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55280" y="345643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3456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Not Started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26280" y="3886200"/>
            <a:ext cx="4434840" cy="5212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392277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Implementation / Go-live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12280" y="39227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31 Jul 2026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955280" y="3986784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39867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Not Started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ICS Domain DA Use Cases  ·  Finalized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All SAMs will have a performance goal to create DA use cases for their domain.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41148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0584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97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Audit Workpaper Assistant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536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D9488"/>
                </a:solidFill>
              </a:rPr>
              <a:t>PROBLEM STATEMENT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7373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spend significant time manually drafting RCMs, workpapers, RFIs, and report sections. Walkthrough discussions must be manually captured and transcribed.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999232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090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D9488"/>
                </a:solidFill>
              </a:rPr>
              <a:t>DATA REPOSITORY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7472" y="32918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transcripts · Prior workpapers · RCM templates · Control descriptions · Audit timelines · Jira tickets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4005072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4096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D9488"/>
                </a:solidFill>
              </a:rPr>
              <a:t>OWNER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7472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Ananya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59152" y="4096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D9488"/>
                </a:solidFill>
              </a:rPr>
              <a:t>TYPE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359152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Analytics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1005840"/>
            <a:ext cx="4434840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02412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4B8A6"/>
                </a:solidFill>
              </a:rPr>
              <a:t>IAM DASHBOARD TRACKER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26280" y="1444752"/>
            <a:ext cx="443484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444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Milestone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03720" y="14447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Due Date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046720" y="14447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Status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26280" y="1764792"/>
            <a:ext cx="4434840" cy="5212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8013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Stakeholder Engagement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12280" y="1801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May 2026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55280" y="1865376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1865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Completed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26280" y="2295144"/>
            <a:ext cx="4434840" cy="5212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Received Raw Data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24 Jun 2026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955280" y="239572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2395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In Progress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26280" y="2825496"/>
            <a:ext cx="4434840" cy="5212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28620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Reach out to DA Team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12280" y="28620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30 Jun 2026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55280" y="292608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2926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Not Started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26280" y="3355848"/>
            <a:ext cx="4434840" cy="5212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9242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PoC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12280" y="33924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26 Jun 2026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55280" y="345643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3456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Not Started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26280" y="3886200"/>
            <a:ext cx="4434840" cy="5212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392277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Implementation / Go-live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12280" y="39227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31 Jul 2026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955280" y="3986784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39867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Not Started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ICS Domain DA Use Cases  ·  Finalized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All SAMs will have a performance goal to create DA use cases for their domain.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41148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0584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97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UC-02: Audit Scheduling Assistant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536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D9488"/>
                </a:solidFill>
              </a:rPr>
              <a:t>PROBLEM STATEMENT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7373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scheduling and resourcing is currently manual and time-consuming, requiring planners to reconcile leave, skills, planned audits, historical assignments, and auditor interests.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999232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090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D9488"/>
                </a:solidFill>
              </a:rPr>
              <a:t>DATA REPOSITORY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7472" y="32918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leave_tracker.xlsx · skills.xlsx · planned_audits.xlsx · planned_assignments.xlsx · interests.xlsx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4005072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4096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D9488"/>
                </a:solidFill>
              </a:rPr>
              <a:t>OWNER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7472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Ananya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59152" y="4096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D9488"/>
                </a:solidFill>
              </a:rPr>
              <a:t>TYPE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359152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Self-Service Dashboard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1005840"/>
            <a:ext cx="4434840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02412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4B8A6"/>
                </a:solidFill>
              </a:rPr>
              <a:t>IAM DASHBOARD TRACKER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26280" y="1444752"/>
            <a:ext cx="443484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444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Milestone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03720" y="14447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Due Date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046720" y="14447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Status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26280" y="1764792"/>
            <a:ext cx="4434840" cy="5212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8013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Stakeholder Engagement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12280" y="1801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Jun 2026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55280" y="1865376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1865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WIP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26280" y="2295144"/>
            <a:ext cx="4434840" cy="5212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Received Raw Data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24 Jun 2026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955280" y="239572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2395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Yet to receive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26280" y="2825496"/>
            <a:ext cx="4434840" cy="5212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28620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Reach out to DA Team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12280" y="28620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30 Jun 2026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55280" y="292608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2926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Not Started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26280" y="3355848"/>
            <a:ext cx="4434840" cy="52120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9242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PoC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12280" y="33924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26 Jun 2026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55280" y="345643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3456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Not Started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26280" y="3886200"/>
            <a:ext cx="4434840" cy="5212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392277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Implementation / Go-live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12280" y="39227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31 Jul 2026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955280" y="3986784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39867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Not Started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ICS Data Analytics &amp; Automation Roadmap</dc:title>
  <dc:subject>PptxGenJS Presentation</dc:subject>
  <dc:creator>PptxGenJS</dc:creator>
  <cp:lastModifiedBy>PptxGenJS</cp:lastModifiedBy>
  <cp:revision>1</cp:revision>
  <dcterms:created xsi:type="dcterms:W3CDTF">2026-05-15T06:35:06Z</dcterms:created>
  <dcterms:modified xsi:type="dcterms:W3CDTF">2026-05-15T06:35:06Z</dcterms:modified>
</cp:coreProperties>
</file>